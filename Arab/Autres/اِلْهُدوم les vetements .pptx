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Bell M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6" roundtripDataSignature="AMtx7mjkP8GYdf1ahC/45uNwmgMre1FI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BellMT-bold.fntdata"/><Relationship Id="rId12" Type="http://schemas.openxmlformats.org/officeDocument/2006/relationships/font" Target="fonts/BellM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BellMT-boldItalic.fntdata"/><Relationship Id="rId14" Type="http://schemas.openxmlformats.org/officeDocument/2006/relationships/font" Target="fonts/BellMT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شِّتَا = l'hiver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خَرَج - خَارِج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"en train" de pour verbe simple avec 3 consonnes: voyelle courte a devient longue Aif, ensuite om met casra (i) sur la deuxieme </a:t>
            </a:r>
            <a:br>
              <a:rPr lang="ar-SA"/>
            </a:br>
            <a:r>
              <a:rPr lang="ar-SA"/>
              <a:t>فَاهِم - دَاخِل - سَامِع. Pour homme. pour femme le kasra se remplace par un A la fin (خَارِج - خَارْجَة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2 - Le cardigan que je vous ai acheté le mois dernier est court, j'en voulais un peu plus long.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3- ta casquette est jolie et sa couleur est plus jolie</a:t>
            </a:r>
            <a:br>
              <a:rPr lang="ar-SA"/>
            </a:br>
            <a:br>
              <a:rPr lang="ar-SA"/>
            </a:br>
            <a:r>
              <a:rPr lang="ar-SA"/>
              <a:t>4 - Il fait très froid en Europe et vous devez acheter un nouveau manteau à votre fille.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اللِّي pronouce illy si en debut de phrase, sinon juste Li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وِلَوْ = mais si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تِبْقَا = ca deviendrait</a:t>
            </a:r>
            <a:endParaRPr/>
          </a:p>
        </p:txBody>
      </p:sp>
      <p:sp>
        <p:nvSpPr>
          <p:cNvPr id="233" name="Google Shape;2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بِيِشْتِرِي il achète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بِيِشْتَغَل il travaille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Mon mari travaille dans une banque, donc il porte une nouvelle chemise tous les jours.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Le pantalon noir est très chic, mais il n'a pas ma taille chez eux.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Ces chuassures sont en cuir et très chères, Nadia les a achetées à Paris.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George a acheté des bottes à son fils parce qu'il a reussi l'examen.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دَايْمًا = toujours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Khadija est très élégante et son voile est toujours magnifique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دَايْمًا = </a:t>
            </a:r>
            <a:endParaRPr/>
          </a:p>
        </p:txBody>
      </p:sp>
      <p:sp>
        <p:nvSpPr>
          <p:cNvPr id="245" name="Google Shape;2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9"/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3" name="Google Shape;13;p9"/>
            <p:cNvSpPr/>
            <p:nvPr/>
          </p:nvSpPr>
          <p:spPr>
            <a:xfrm rot="-5400000">
              <a:off x="1" y="1640114"/>
              <a:ext cx="5217886" cy="5217886"/>
            </a:xfrm>
            <a:prstGeom prst="rect">
              <a:avLst/>
            </a:prstGeom>
            <a:gradFill>
              <a:gsLst>
                <a:gs pos="0">
                  <a:srgbClr val="C67B72">
                    <a:alpha val="60000"/>
                  </a:srgbClr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" name="Google Shape;14;p9"/>
            <p:cNvSpPr/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568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" name="Google Shape;15;p9"/>
            <p:cNvSpPr/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16" name="Google Shape;16;p9"/>
            <p:cNvGrpSpPr/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7" name="Google Shape;17;p9"/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8" name="Google Shape;18;p9"/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grpSp>
          <p:nvGrpSpPr>
            <p:cNvPr id="19" name="Google Shape;19;p9"/>
            <p:cNvGrpSpPr/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0" name="Google Shape;20;p9"/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21" name="Google Shape;21;p9"/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sp>
          <p:nvSpPr>
            <p:cNvPr id="22" name="Google Shape;22;p9"/>
            <p:cNvSpPr/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60000">
                  <a:srgbClr val="D18CA1">
                    <a:alpha val="0"/>
                  </a:srgbClr>
                </a:gs>
                <a:gs pos="100000">
                  <a:srgbClr val="D18CA1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3" name="Google Shape;23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" name="Google Shape;24;p9"/>
          <p:cNvSpPr txBox="1"/>
          <p:nvPr>
            <p:ph type="ctrTitle"/>
          </p:nvPr>
        </p:nvSpPr>
        <p:spPr>
          <a:xfrm>
            <a:off x="540000" y="540000"/>
            <a:ext cx="11090273" cy="37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Bell MT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subTitle"/>
          </p:nvPr>
        </p:nvSpPr>
        <p:spPr>
          <a:xfrm>
            <a:off x="540000" y="4508500"/>
            <a:ext cx="7345362" cy="1800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/>
            </a:lvl1pPr>
            <a:lvl2pPr lv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0"/>
          <p:cNvGrpSpPr/>
          <p:nvPr/>
        </p:nvGrpSpPr>
        <p:grpSpPr>
          <a:xfrm flipH="1" rot="10800000">
            <a:off x="0" y="-1"/>
            <a:ext cx="12191999" cy="6861601"/>
            <a:chOff x="0" y="-1"/>
            <a:chExt cx="12191999" cy="6861601"/>
          </a:xfrm>
        </p:grpSpPr>
        <p:sp>
          <p:nvSpPr>
            <p:cNvPr id="31" name="Google Shape;31;p10"/>
            <p:cNvSpPr/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>
              <a:gsLst>
                <a:gs pos="0">
                  <a:srgbClr val="C67B72">
                    <a:alpha val="60000"/>
                  </a:srgbClr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" name="Google Shape;32;p10"/>
            <p:cNvSpPr/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" name="Google Shape;33;p10"/>
            <p:cNvSpPr/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34" name="Google Shape;34;p10"/>
            <p:cNvGrpSpPr/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35" name="Google Shape;35;p10"/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36" name="Google Shape;36;p10"/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sp>
          <p:nvSpPr>
            <p:cNvPr id="37" name="Google Shape;37;p10"/>
            <p:cNvSpPr/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8" name="Google Shape;38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1" type="ftr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6" name="Google Shape;46;p11"/>
            <p:cNvSpPr/>
            <p:nvPr/>
          </p:nvSpPr>
          <p:spPr>
            <a:xfrm flipH="1" rot="10800000">
              <a:off x="0" y="2019649"/>
              <a:ext cx="4838350" cy="483835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60000">
                  <a:srgbClr val="C49B6D">
                    <a:alpha val="0"/>
                  </a:srgbClr>
                </a:gs>
                <a:gs pos="100000">
                  <a:srgbClr val="C49B6D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47" name="Google Shape;47;p11"/>
            <p:cNvGrpSpPr/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48" name="Google Shape;48;p11"/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49" name="Google Shape;49;p11"/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sp>
          <p:nvSpPr>
            <p:cNvPr id="50" name="Google Shape;50;p11"/>
            <p:cNvSpPr/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>
              <a:gsLst>
                <a:gs pos="0">
                  <a:srgbClr val="D18CA1">
                    <a:alpha val="60000"/>
                  </a:srgbClr>
                </a:gs>
                <a:gs pos="60000">
                  <a:srgbClr val="D18CA1">
                    <a:alpha val="0"/>
                  </a:srgbClr>
                </a:gs>
                <a:gs pos="100000">
                  <a:srgbClr val="D18CA1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" name="Google Shape;51;p11"/>
            <p:cNvSpPr/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52" name="Google Shape;52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3" name="Google Shape;53;p11"/>
          <p:cNvSpPr txBox="1"/>
          <p:nvPr>
            <p:ph type="title"/>
          </p:nvPr>
        </p:nvSpPr>
        <p:spPr>
          <a:xfrm>
            <a:off x="540000" y="540000"/>
            <a:ext cx="7345362" cy="576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Bell MT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8075612" y="540000"/>
            <a:ext cx="3565523" cy="576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2"/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>
          <p:nvSpPr>
            <p:cNvPr id="60" name="Google Shape;60;p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61" name="Google Shape;61;p12"/>
            <p:cNvGrpSpPr/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62" name="Google Shape;62;p12"/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>
                <a:gsLst>
                  <a:gs pos="0">
                    <a:srgbClr val="C49B6D">
                      <a:alpha val="60000"/>
                    </a:srgbClr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63" name="Google Shape;63;p12"/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>
                <a:gsLst>
                  <a:gs pos="0">
                    <a:srgbClr val="C49B6D">
                      <a:alpha val="60000"/>
                    </a:srgbClr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sp>
          <p:nvSpPr>
            <p:cNvPr id="64" name="Google Shape;64;p12"/>
            <p:cNvSpPr/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>
              <a:gsLst>
                <a:gs pos="0">
                  <a:srgbClr val="D18CA1">
                    <a:alpha val="60000"/>
                  </a:srgbClr>
                </a:gs>
                <a:gs pos="60000">
                  <a:srgbClr val="D18CA1">
                    <a:alpha val="0"/>
                  </a:srgbClr>
                </a:gs>
                <a:gs pos="100000">
                  <a:srgbClr val="D18CA1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" name="Google Shape;65;p12"/>
            <p:cNvSpPr/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66" name="Google Shape;66;p12"/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67" name="Google Shape;67;p12"/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68" name="Google Shape;68;p12"/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sp>
          <p:nvSpPr>
            <p:cNvPr id="69" name="Google Shape;69;p12"/>
            <p:cNvSpPr/>
            <p:nvPr/>
          </p:nvSpPr>
          <p:spPr>
            <a:xfrm flipH="1" rot="10800000">
              <a:off x="0" y="521786"/>
              <a:ext cx="6336213" cy="6336213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60000">
                  <a:srgbClr val="C49B6D">
                    <a:alpha val="0"/>
                  </a:srgbClr>
                </a:gs>
                <a:gs pos="100000">
                  <a:srgbClr val="C49B6D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70" name="Google Shape;70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1" name="Google Shape;71;p12"/>
          <p:cNvSpPr txBox="1"/>
          <p:nvPr>
            <p:ph type="title"/>
          </p:nvPr>
        </p:nvSpPr>
        <p:spPr>
          <a:xfrm>
            <a:off x="540000" y="539999"/>
            <a:ext cx="11090275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540000" y="1929600"/>
            <a:ext cx="5437186" cy="4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6203950" y="1929600"/>
            <a:ext cx="5437186" cy="4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0" type="dt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1" type="ftr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3"/>
          <p:cNvGrpSpPr/>
          <p:nvPr/>
        </p:nvGrpSpPr>
        <p:grpSpPr>
          <a:xfrm>
            <a:off x="0" y="-2"/>
            <a:ext cx="12191999" cy="6858002"/>
            <a:chOff x="0" y="-2"/>
            <a:chExt cx="12191999" cy="6858002"/>
          </a:xfrm>
        </p:grpSpPr>
        <p:sp>
          <p:nvSpPr>
            <p:cNvPr id="79" name="Google Shape;79;p13"/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>
              <a:gsLst>
                <a:gs pos="0">
                  <a:srgbClr val="D18CA1">
                    <a:alpha val="40000"/>
                  </a:srgbClr>
                </a:gs>
                <a:gs pos="34000">
                  <a:srgbClr val="D18CA1">
                    <a:alpha val="20000"/>
                  </a:srgbClr>
                </a:gs>
                <a:gs pos="65000">
                  <a:srgbClr val="D18CA1">
                    <a:alpha val="0"/>
                  </a:srgbClr>
                </a:gs>
                <a:gs pos="100000">
                  <a:srgbClr val="D18CA1">
                    <a:alpha val="0"/>
                  </a:srgbClr>
                </a:gs>
              </a:gsLst>
              <a:path path="circle">
                <a:fillToRect l="100%" t="100%"/>
              </a:path>
              <a:tileRect b="-100%" r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80" name="Google Shape;80;p13"/>
            <p:cNvGrpSpPr/>
            <p:nvPr/>
          </p:nvGrpSpPr>
          <p:grpSpPr>
            <a:xfrm rot="-54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81" name="Google Shape;81;p13"/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>
                <a:gsLst>
                  <a:gs pos="0">
                    <a:srgbClr val="C67B72">
                      <a:alpha val="60000"/>
                    </a:srgbClr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>
                <a:gsLst>
                  <a:gs pos="0">
                    <a:srgbClr val="C67B72">
                      <a:alpha val="60000"/>
                    </a:srgbClr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grpSp>
          <p:nvGrpSpPr>
            <p:cNvPr id="83" name="Google Shape;83;p13"/>
            <p:cNvGrpSpPr/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84" name="Google Shape;84;p13"/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>
                <a:gsLst>
                  <a:gs pos="0">
                    <a:srgbClr val="D18CA1">
                      <a:alpha val="60000"/>
                    </a:srgbClr>
                  </a:gs>
                  <a:gs pos="63000">
                    <a:srgbClr val="D18CA1">
                      <a:alpha val="0"/>
                    </a:srgbClr>
                  </a:gs>
                  <a:gs pos="100000">
                    <a:srgbClr val="D18CA1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 flipH="1" rot="10800000">
                <a:off x="1" y="0"/>
                <a:ext cx="8304867" cy="3429000"/>
              </a:xfrm>
              <a:prstGeom prst="rect">
                <a:avLst/>
              </a:prstGeom>
              <a:gradFill>
                <a:gsLst>
                  <a:gs pos="0">
                    <a:srgbClr val="D18CA1">
                      <a:alpha val="60000"/>
                    </a:srgbClr>
                  </a:gs>
                  <a:gs pos="63000">
                    <a:srgbClr val="D18CA1">
                      <a:alpha val="0"/>
                    </a:srgbClr>
                  </a:gs>
                  <a:gs pos="100000">
                    <a:srgbClr val="D18CA1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grpSp>
          <p:nvGrpSpPr>
            <p:cNvPr id="86" name="Google Shape;86;p13"/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87" name="Google Shape;87;p13"/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>
                <a:gsLst>
                  <a:gs pos="0">
                    <a:srgbClr val="C49B6D">
                      <a:alpha val="60000"/>
                    </a:srgbClr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>
                <a:gsLst>
                  <a:gs pos="0">
                    <a:srgbClr val="C49B6D">
                      <a:alpha val="60000"/>
                    </a:srgbClr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grpSp>
          <p:nvGrpSpPr>
            <p:cNvPr id="89" name="Google Shape;89;p13"/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90" name="Google Shape;90;p13"/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>
                <a:gsLst>
                  <a:gs pos="0">
                    <a:srgbClr val="C67B72">
                      <a:alpha val="60000"/>
                    </a:srgbClr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>
                <a:gsLst>
                  <a:gs pos="0">
                    <a:srgbClr val="C67B72">
                      <a:alpha val="60000"/>
                    </a:srgbClr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</p:grpSp>
      <p:sp>
        <p:nvSpPr>
          <p:cNvPr id="92" name="Google Shape;9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540000" y="539999"/>
            <a:ext cx="11090273" cy="1210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ll M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540000" y="1929783"/>
            <a:ext cx="5448052" cy="7921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 cap="none"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5" name="Google Shape;95;p13"/>
          <p:cNvSpPr txBox="1"/>
          <p:nvPr>
            <p:ph idx="2" type="body"/>
          </p:nvPr>
        </p:nvSpPr>
        <p:spPr>
          <a:xfrm>
            <a:off x="540000" y="2937844"/>
            <a:ext cx="5437186" cy="3376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3" type="body"/>
          </p:nvPr>
        </p:nvSpPr>
        <p:spPr>
          <a:xfrm>
            <a:off x="6203949" y="1929782"/>
            <a:ext cx="5437187" cy="7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 sz="1600" cap="none"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7" name="Google Shape;97;p13"/>
          <p:cNvSpPr txBox="1"/>
          <p:nvPr>
            <p:ph idx="4" type="body"/>
          </p:nvPr>
        </p:nvSpPr>
        <p:spPr>
          <a:xfrm>
            <a:off x="6203950" y="2937844"/>
            <a:ext cx="5437186" cy="3376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0" type="dt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1" type="ftr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03" name="Google Shape;103;p14"/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 flipH="1" rot="-5400000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06" name="Google Shape;106;p14"/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>
            <a:gsLst>
              <a:gs pos="0">
                <a:schemeClr val="accent1"/>
              </a:gs>
              <a:gs pos="60000">
                <a:srgbClr val="C49B6D">
                  <a:alpha val="0"/>
                </a:srgbClr>
              </a:gs>
              <a:gs pos="100000">
                <a:srgbClr val="C49B6D">
                  <a:alpha val="0"/>
                </a:srgbClr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>
            <a:gsLst>
              <a:gs pos="0">
                <a:srgbClr val="C49B6D">
                  <a:alpha val="60000"/>
                </a:srgbClr>
              </a:gs>
              <a:gs pos="60000">
                <a:srgbClr val="C49B6D">
                  <a:alpha val="0"/>
                </a:srgbClr>
              </a:gs>
              <a:gs pos="100000">
                <a:srgbClr val="C49B6D">
                  <a:alpha val="0"/>
                </a:srgbClr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1" name="Google Shape;111;p14"/>
          <p:cNvSpPr txBox="1"/>
          <p:nvPr>
            <p:ph type="title"/>
          </p:nvPr>
        </p:nvSpPr>
        <p:spPr>
          <a:xfrm>
            <a:off x="550863" y="549276"/>
            <a:ext cx="11090275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Bell MT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10" type="dt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1" type="ftr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12" type="sldNum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5"/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17" name="Google Shape;117;p15"/>
            <p:cNvSpPr/>
            <p:nvPr/>
          </p:nvSpPr>
          <p:spPr>
            <a:xfrm rot="-5400000">
              <a:off x="1" y="1640114"/>
              <a:ext cx="5217886" cy="5217886"/>
            </a:xfrm>
            <a:prstGeom prst="rect">
              <a:avLst/>
            </a:prstGeom>
            <a:gradFill>
              <a:gsLst>
                <a:gs pos="0">
                  <a:srgbClr val="C67B72">
                    <a:alpha val="60000"/>
                  </a:srgbClr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568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120" name="Google Shape;120;p15"/>
            <p:cNvGrpSpPr/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21" name="Google Shape;121;p15"/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grpSp>
          <p:nvGrpSpPr>
            <p:cNvPr id="123" name="Google Shape;123;p15"/>
            <p:cNvGrpSpPr/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4" name="Google Shape;124;p15"/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sp>
          <p:nvSpPr>
            <p:cNvPr id="126" name="Google Shape;126;p15"/>
            <p:cNvSpPr/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60000">
                  <a:srgbClr val="D18CA1">
                    <a:alpha val="0"/>
                  </a:srgbClr>
                </a:gs>
                <a:gs pos="100000">
                  <a:srgbClr val="D18CA1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27" name="Google Shape;12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8" name="Google Shape;128;p15"/>
          <p:cNvSpPr txBox="1"/>
          <p:nvPr>
            <p:ph idx="10" type="dt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1" type="ftr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6"/>
          <p:cNvGrpSpPr/>
          <p:nvPr/>
        </p:nvGrpSpPr>
        <p:grpSpPr>
          <a:xfrm flipH="1">
            <a:off x="0" y="0"/>
            <a:ext cx="12191999" cy="6858002"/>
            <a:chOff x="0" y="-2"/>
            <a:chExt cx="12191999" cy="6858002"/>
          </a:xfrm>
        </p:grpSpPr>
        <p:sp>
          <p:nvSpPr>
            <p:cNvPr id="133" name="Google Shape;133;p16"/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>
              <a:gsLst>
                <a:gs pos="0">
                  <a:srgbClr val="D18CA1">
                    <a:alpha val="40000"/>
                  </a:srgbClr>
                </a:gs>
                <a:gs pos="34000">
                  <a:srgbClr val="D18CA1">
                    <a:alpha val="20000"/>
                  </a:srgbClr>
                </a:gs>
                <a:gs pos="65000">
                  <a:srgbClr val="D18CA1">
                    <a:alpha val="0"/>
                  </a:srgbClr>
                </a:gs>
                <a:gs pos="100000">
                  <a:srgbClr val="D18CA1">
                    <a:alpha val="0"/>
                  </a:srgbClr>
                </a:gs>
              </a:gsLst>
              <a:path path="circle">
                <a:fillToRect l="100%" t="100%"/>
              </a:path>
              <a:tileRect b="-100%" r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134" name="Google Shape;134;p16"/>
            <p:cNvGrpSpPr/>
            <p:nvPr/>
          </p:nvGrpSpPr>
          <p:grpSpPr>
            <a:xfrm rot="-54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135" name="Google Shape;135;p16"/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>
                <a:gsLst>
                  <a:gs pos="0">
                    <a:srgbClr val="C67B72">
                      <a:alpha val="60000"/>
                    </a:srgbClr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36" name="Google Shape;136;p16"/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>
                <a:gsLst>
                  <a:gs pos="0">
                    <a:srgbClr val="C67B72">
                      <a:alpha val="60000"/>
                    </a:srgbClr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grpSp>
          <p:nvGrpSpPr>
            <p:cNvPr id="137" name="Google Shape;137;p16"/>
            <p:cNvGrpSpPr/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38" name="Google Shape;138;p16"/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>
                <a:gsLst>
                  <a:gs pos="0">
                    <a:srgbClr val="D18CA1">
                      <a:alpha val="60000"/>
                    </a:srgbClr>
                  </a:gs>
                  <a:gs pos="63000">
                    <a:srgbClr val="D18CA1">
                      <a:alpha val="0"/>
                    </a:srgbClr>
                  </a:gs>
                  <a:gs pos="100000">
                    <a:srgbClr val="D18CA1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 flipH="1" rot="10800000">
                <a:off x="1" y="0"/>
                <a:ext cx="8304867" cy="3429000"/>
              </a:xfrm>
              <a:prstGeom prst="rect">
                <a:avLst/>
              </a:prstGeom>
              <a:gradFill>
                <a:gsLst>
                  <a:gs pos="0">
                    <a:srgbClr val="D18CA1">
                      <a:alpha val="60000"/>
                    </a:srgbClr>
                  </a:gs>
                  <a:gs pos="63000">
                    <a:srgbClr val="D18CA1">
                      <a:alpha val="0"/>
                    </a:srgbClr>
                  </a:gs>
                  <a:gs pos="100000">
                    <a:srgbClr val="D18CA1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grpSp>
          <p:nvGrpSpPr>
            <p:cNvPr id="140" name="Google Shape;140;p16"/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41" name="Google Shape;141;p16"/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>
                <a:gsLst>
                  <a:gs pos="0">
                    <a:srgbClr val="C49B6D">
                      <a:alpha val="60000"/>
                    </a:srgbClr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42" name="Google Shape;142;p16"/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>
                <a:gsLst>
                  <a:gs pos="0">
                    <a:srgbClr val="C49B6D">
                      <a:alpha val="60000"/>
                    </a:srgbClr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grpSp>
          <p:nvGrpSpPr>
            <p:cNvPr id="143" name="Google Shape;143;p16"/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4" name="Google Shape;144;p16"/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>
                <a:gsLst>
                  <a:gs pos="0">
                    <a:srgbClr val="C67B72">
                      <a:alpha val="60000"/>
                    </a:srgbClr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45" name="Google Shape;145;p16"/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>
                <a:gsLst>
                  <a:gs pos="0">
                    <a:srgbClr val="C67B72">
                      <a:alpha val="60000"/>
                    </a:srgbClr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</p:grpSp>
      <p:sp>
        <p:nvSpPr>
          <p:cNvPr id="146" name="Google Shape;14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7" name="Google Shape;147;p16"/>
          <p:cNvSpPr txBox="1"/>
          <p:nvPr>
            <p:ph type="title"/>
          </p:nvPr>
        </p:nvSpPr>
        <p:spPr>
          <a:xfrm>
            <a:off x="539999" y="540000"/>
            <a:ext cx="4511425" cy="277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ll M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5232400" y="540000"/>
            <a:ext cx="6408736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3810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9" name="Google Shape;149;p16"/>
          <p:cNvSpPr txBox="1"/>
          <p:nvPr>
            <p:ph idx="2" type="body"/>
          </p:nvPr>
        </p:nvSpPr>
        <p:spPr>
          <a:xfrm>
            <a:off x="540000" y="3536950"/>
            <a:ext cx="4511426" cy="277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0" name="Google Shape;150;p16"/>
          <p:cNvSpPr txBox="1"/>
          <p:nvPr>
            <p:ph idx="10" type="dt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11" type="ftr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6"/>
          <p:cNvSpPr txBox="1"/>
          <p:nvPr>
            <p:ph idx="12" type="sldNum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7"/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5" name="Google Shape;155;p17"/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57" name="Google Shape;157;p17"/>
          <p:cNvGrpSpPr/>
          <p:nvPr/>
        </p:nvGrpSpPr>
        <p:grpSpPr>
          <a:xfrm flipH="1" rot="-5400000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58" name="Google Shape;158;p17"/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60" name="Google Shape;160;p17"/>
          <p:cNvSpPr/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>
            <a:gsLst>
              <a:gs pos="0">
                <a:schemeClr val="accent1"/>
              </a:gs>
              <a:gs pos="60000">
                <a:srgbClr val="C49B6D">
                  <a:alpha val="0"/>
                </a:srgbClr>
              </a:gs>
              <a:gs pos="100000">
                <a:srgbClr val="C49B6D">
                  <a:alpha val="0"/>
                </a:srgbClr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>
            <a:gsLst>
              <a:gs pos="0">
                <a:srgbClr val="C49B6D">
                  <a:alpha val="60000"/>
                </a:srgbClr>
              </a:gs>
              <a:gs pos="60000">
                <a:srgbClr val="C49B6D">
                  <a:alpha val="0"/>
                </a:srgbClr>
              </a:gs>
              <a:gs pos="100000">
                <a:srgbClr val="C49B6D">
                  <a:alpha val="0"/>
                </a:srgbClr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3" name="Google Shape;163;p17"/>
          <p:cNvSpPr txBox="1"/>
          <p:nvPr>
            <p:ph type="title"/>
          </p:nvPr>
        </p:nvSpPr>
        <p:spPr>
          <a:xfrm>
            <a:off x="539999" y="540000"/>
            <a:ext cx="4511425" cy="277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ll M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7"/>
          <p:cNvSpPr/>
          <p:nvPr>
            <p:ph idx="2" type="pic"/>
          </p:nvPr>
        </p:nvSpPr>
        <p:spPr>
          <a:xfrm>
            <a:off x="5232400" y="549275"/>
            <a:ext cx="6408736" cy="575945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539999" y="3536950"/>
            <a:ext cx="4511425" cy="277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6" name="Google Shape;166;p17"/>
          <p:cNvSpPr txBox="1"/>
          <p:nvPr>
            <p:ph idx="10" type="dt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7"/>
          <p:cNvSpPr txBox="1"/>
          <p:nvPr>
            <p:ph idx="11" type="ftr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7"/>
          <p:cNvSpPr txBox="1"/>
          <p:nvPr>
            <p:ph idx="12" type="sldNum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8"/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171" name="Google Shape;171;p18"/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74" name="Google Shape;174;p18"/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76" name="Google Shape;176;p18"/>
          <p:cNvSpPr/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>
            <a:gsLst>
              <a:gs pos="0">
                <a:srgbClr val="C49B6D">
                  <a:alpha val="40000"/>
                </a:srgbClr>
              </a:gs>
              <a:gs pos="60000">
                <a:srgbClr val="C49B6D">
                  <a:alpha val="0"/>
                </a:srgbClr>
              </a:gs>
              <a:gs pos="100000">
                <a:srgbClr val="C49B6D">
                  <a:alpha val="0"/>
                </a:srgbClr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>
            <a:gsLst>
              <a:gs pos="0">
                <a:srgbClr val="C49B6D">
                  <a:alpha val="60000"/>
                </a:srgbClr>
              </a:gs>
              <a:gs pos="60000">
                <a:srgbClr val="C49B6D">
                  <a:alpha val="0"/>
                </a:srgbClr>
              </a:gs>
              <a:gs pos="100000">
                <a:srgbClr val="C49B6D">
                  <a:alpha val="0"/>
                </a:srgbClr>
              </a:gs>
            </a:gsLst>
            <a:path path="circle">
              <a:fillToRect b="100%" r="100%"/>
            </a:path>
            <a:tileRect l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9" name="Google Shape;179;p18"/>
          <p:cNvSpPr txBox="1"/>
          <p:nvPr>
            <p:ph type="title"/>
          </p:nvPr>
        </p:nvSpPr>
        <p:spPr>
          <a:xfrm>
            <a:off x="540000" y="540000"/>
            <a:ext cx="11090273" cy="1800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8"/>
          <p:cNvSpPr txBox="1"/>
          <p:nvPr>
            <p:ph idx="1" type="body"/>
          </p:nvPr>
        </p:nvSpPr>
        <p:spPr>
          <a:xfrm rot="5400000">
            <a:off x="4195219" y="-1126332"/>
            <a:ext cx="3779837" cy="11090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18"/>
          <p:cNvSpPr txBox="1"/>
          <p:nvPr>
            <p:ph idx="10" type="dt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8"/>
          <p:cNvSpPr txBox="1"/>
          <p:nvPr>
            <p:ph idx="11" type="ftr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8"/>
          <p:cNvSpPr txBox="1"/>
          <p:nvPr>
            <p:ph idx="12" type="sldNum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9"/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>
          <p:nvSpPr>
            <p:cNvPr id="186" name="Google Shape;186;p1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187" name="Google Shape;187;p19"/>
            <p:cNvGrpSpPr/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88" name="Google Shape;188;p19"/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>
                <a:gsLst>
                  <a:gs pos="0">
                    <a:srgbClr val="C49B6D">
                      <a:alpha val="60000"/>
                    </a:srgbClr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89" name="Google Shape;189;p19"/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>
                <a:gsLst>
                  <a:gs pos="0">
                    <a:srgbClr val="C49B6D">
                      <a:alpha val="60000"/>
                    </a:srgbClr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sp>
          <p:nvSpPr>
            <p:cNvPr id="190" name="Google Shape;190;p19"/>
            <p:cNvSpPr/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>
              <a:gsLst>
                <a:gs pos="0">
                  <a:srgbClr val="D18CA1">
                    <a:alpha val="60000"/>
                  </a:srgbClr>
                </a:gs>
                <a:gs pos="60000">
                  <a:srgbClr val="D18CA1">
                    <a:alpha val="0"/>
                  </a:srgbClr>
                </a:gs>
                <a:gs pos="100000">
                  <a:srgbClr val="D18CA1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192" name="Google Shape;192;p19"/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93" name="Google Shape;193;p19"/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194" name="Google Shape;194;p19"/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sp>
          <p:nvSpPr>
            <p:cNvPr id="195" name="Google Shape;195;p19"/>
            <p:cNvSpPr/>
            <p:nvPr/>
          </p:nvSpPr>
          <p:spPr>
            <a:xfrm flipH="1" rot="10800000">
              <a:off x="0" y="521786"/>
              <a:ext cx="6336213" cy="6336213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60000">
                  <a:srgbClr val="C49B6D">
                    <a:alpha val="0"/>
                  </a:srgbClr>
                </a:gs>
                <a:gs pos="100000">
                  <a:srgbClr val="C49B6D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96" name="Google Shape;196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7" name="Google Shape;197;p19"/>
          <p:cNvSpPr txBox="1"/>
          <p:nvPr>
            <p:ph type="title"/>
          </p:nvPr>
        </p:nvSpPr>
        <p:spPr>
          <a:xfrm rot="5400000">
            <a:off x="7442325" y="2109912"/>
            <a:ext cx="5768726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9"/>
          <p:cNvSpPr txBox="1"/>
          <p:nvPr>
            <p:ph idx="1" type="body"/>
          </p:nvPr>
        </p:nvSpPr>
        <p:spPr>
          <a:xfrm rot="5400000">
            <a:off x="1789238" y="-698375"/>
            <a:ext cx="5768726" cy="8245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10" type="dt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9"/>
          <p:cNvSpPr txBox="1"/>
          <p:nvPr>
            <p:ph idx="11" type="ftr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2" type="sldNum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ell MT"/>
              <a:buNone/>
              <a:defRPr b="0" i="0" sz="6000" u="none" cap="none" strike="noStrike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42900" lvl="1" marL="9144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42900" lvl="2" marL="13716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1" type="ftr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0" type="dt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07" name="Google Shape;207;p1"/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208" name="Google Shape;208;p1"/>
            <p:cNvSpPr/>
            <p:nvPr/>
          </p:nvSpPr>
          <p:spPr>
            <a:xfrm rot="-5400000">
              <a:off x="1" y="1640114"/>
              <a:ext cx="5217886" cy="5217886"/>
            </a:xfrm>
            <a:prstGeom prst="rect">
              <a:avLst/>
            </a:prstGeom>
            <a:gradFill>
              <a:gsLst>
                <a:gs pos="0">
                  <a:srgbClr val="C67B72">
                    <a:alpha val="60000"/>
                  </a:srgbClr>
                </a:gs>
                <a:gs pos="60000">
                  <a:srgbClr val="C67B72">
                    <a:alpha val="0"/>
                  </a:srgbClr>
                </a:gs>
                <a:gs pos="100000">
                  <a:srgbClr val="C67B72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568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211" name="Google Shape;211;p1"/>
            <p:cNvGrpSpPr/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12" name="Google Shape;212;p1"/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60000">
                    <a:srgbClr val="C49B6D">
                      <a:alpha val="0"/>
                    </a:srgbClr>
                  </a:gs>
                  <a:gs pos="100000">
                    <a:srgbClr val="C49B6D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grpSp>
          <p:nvGrpSpPr>
            <p:cNvPr id="214" name="Google Shape;214;p1"/>
            <p:cNvGrpSpPr/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15" name="Google Shape;215;p1"/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60000">
                    <a:srgbClr val="C67B72">
                      <a:alpha val="0"/>
                    </a:srgbClr>
                  </a:gs>
                  <a:gs pos="100000">
                    <a:srgbClr val="C67B72">
                      <a:alpha val="0"/>
                    </a:srgbClr>
                  </a:gs>
                </a:gsLst>
                <a:path path="circle">
                  <a:fillToRect b="100%" r="100%"/>
                </a:path>
                <a:tileRect l="-100%" t="-100%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sp>
          <p:nvSpPr>
            <p:cNvPr id="217" name="Google Shape;217;p1"/>
            <p:cNvSpPr/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60000">
                  <a:srgbClr val="D18CA1">
                    <a:alpha val="0"/>
                  </a:srgbClr>
                </a:gs>
                <a:gs pos="100000">
                  <a:srgbClr val="D18CA1">
                    <a:alpha val="0"/>
                  </a:srgbClr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18" name="Google Shape;21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C2441">
                  <a:alpha val="40000"/>
                </a:srgbClr>
              </a:gs>
              <a:gs pos="37000">
                <a:srgbClr val="3C2441">
                  <a:alpha val="40000"/>
                </a:srgbClr>
              </a:gs>
              <a:gs pos="79000">
                <a:srgbClr val="3C2441">
                  <a:alpha val="0"/>
                </a:srgbClr>
              </a:gs>
              <a:gs pos="100000">
                <a:srgbClr val="3C244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19" name="Google Shape;219;p1"/>
          <p:cNvGrpSpPr/>
          <p:nvPr/>
        </p:nvGrpSpPr>
        <p:grpSpPr>
          <a:xfrm>
            <a:off x="5337600" y="3600"/>
            <a:ext cx="6854400" cy="6854400"/>
            <a:chOff x="0" y="3600"/>
            <a:chExt cx="6854400" cy="6854400"/>
          </a:xfrm>
        </p:grpSpPr>
        <p:sp>
          <p:nvSpPr>
            <p:cNvPr id="220" name="Google Shape;220;p1"/>
            <p:cNvSpPr/>
            <p:nvPr/>
          </p:nvSpPr>
          <p:spPr>
            <a:xfrm rot="10800000">
              <a:off x="1" y="36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 rot="10800000">
              <a:off x="1" y="199202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 rot="10800000">
              <a:off x="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descr="Motivo liquido colorato" id="223" name="Google Shape;223;p1"/>
          <p:cNvPicPr preferRelativeResize="0"/>
          <p:nvPr/>
        </p:nvPicPr>
        <p:blipFill rotWithShape="1">
          <a:blip r:embed="rId3">
            <a:alphaModFix/>
          </a:blip>
          <a:srcRect b="1" l="13075" r="16925" t="0"/>
          <a:stretch/>
        </p:blipFill>
        <p:spPr>
          <a:xfrm>
            <a:off x="5235590" y="137744"/>
            <a:ext cx="7296103" cy="6858000"/>
          </a:xfrm>
          <a:custGeom>
            <a:rect b="b" l="l" r="r" t="t"/>
            <a:pathLst>
              <a:path extrusionOk="0" h="6858000" w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24" name="Google Shape;224;p1"/>
          <p:cNvSpPr/>
          <p:nvPr/>
        </p:nvSpPr>
        <p:spPr>
          <a:xfrm rot="-1051714">
            <a:off x="-339153" y="2007373"/>
            <a:ext cx="10185581" cy="3120886"/>
          </a:xfrm>
          <a:prstGeom prst="rect">
            <a:avLst/>
          </a:prstGeom>
          <a:noFill/>
          <a:ln>
            <a:noFill/>
          </a:ln>
          <a:effectLst>
            <a:reflection blurRad="0" dir="5400000" dist="50800" endA="300" endPos="55500" kx="0" rotWithShape="0" algn="bl" stA="50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8000">
                <a:solidFill>
                  <a:srgbClr val="0070C0"/>
                </a:solidFill>
                <a:latin typeface="Aharoni"/>
                <a:ea typeface="Aharoni"/>
                <a:cs typeface="Aharoni"/>
                <a:sym typeface="Aharoni"/>
              </a:rPr>
              <a:t>Les v</a:t>
            </a:r>
            <a:r>
              <a:rPr b="1" lang="ar-SA" sz="8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ê</a:t>
            </a:r>
            <a:r>
              <a:rPr b="1" lang="ar-SA" sz="8000">
                <a:solidFill>
                  <a:srgbClr val="0070C0"/>
                </a:solidFill>
                <a:latin typeface="Aharoni"/>
                <a:ea typeface="Aharoni"/>
                <a:cs typeface="Aharoni"/>
                <a:sym typeface="Aharoni"/>
              </a:rPr>
              <a:t>tements</a:t>
            </a:r>
            <a:endParaRPr b="1" sz="8000">
              <a:solidFill>
                <a:srgbClr val="0070C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9600">
                <a:solidFill>
                  <a:srgbClr val="0070C0"/>
                </a:solidFill>
                <a:latin typeface="Aharoni"/>
                <a:ea typeface="Aharoni"/>
                <a:cs typeface="Aharoni"/>
                <a:sym typeface="Aharoni"/>
              </a:rPr>
              <a:t>اِلْهُدُوم</a:t>
            </a:r>
            <a:endParaRPr b="1" sz="9600">
              <a:solidFill>
                <a:srgbClr val="0070C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"/>
          <p:cNvSpPr/>
          <p:nvPr/>
        </p:nvSpPr>
        <p:spPr>
          <a:xfrm>
            <a:off x="6589644" y="964096"/>
            <a:ext cx="5602356" cy="5128591"/>
          </a:xfrm>
          <a:prstGeom prst="rect">
            <a:avLst/>
          </a:prstGeom>
          <a:solidFill>
            <a:srgbClr val="A84DB8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كَارْدِيجَان          un cardigan  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جُونِلَّة                    une jupe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شَال                       un châle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طَاقِيَّة                  un bonnet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"/>
          <p:cNvSpPr/>
          <p:nvPr/>
        </p:nvSpPr>
        <p:spPr>
          <a:xfrm>
            <a:off x="0" y="964096"/>
            <a:ext cx="5506277" cy="5128591"/>
          </a:xfrm>
          <a:prstGeom prst="rect">
            <a:avLst/>
          </a:prstGeom>
          <a:solidFill>
            <a:srgbClr val="A84DB8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جَاكِت             un blouson (court)  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جَاكِت جِلْد        un blouson de cuir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بَالْطُو                       un manteau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فِزْت               une veste/un gilet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4DB8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14350" lvl="0" marL="514350" marR="0" rtl="1" algn="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Times New Roman"/>
              <a:buAutoNum type="arabicPeriod"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عَايِز أَشْتِرِي جَاكِيت لِلشِّتَا وِمِش عَارِف مِنِين.</a:t>
            </a:r>
            <a:endParaRPr/>
          </a:p>
          <a:p>
            <a:pPr indent="-311150" lvl="0" marL="5143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اِلْكَارْدِيجَان اللِّي اشْتَرِيتُه مِنِّك الشَّهْرِ الْفَايِت قُصَيَّر، أَنَا عَايْزَة وَاحِد طَوِيل شْوَيَ.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اِلطَّاقِيَّة بْتَاعْتِك حِلْوَة وِلُونْهَا أَحْلَى.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اِلْبَرْد كْتِير فِأُورُوبَا وْلَازِم تِشْتِرِي لْبِنْتِك بَالْطُو جْدِيد.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اِلْجُونِيلَّة اللِّي شُفْتِك لَابْسَاهَا مْبَارِح قُصَيَّرَة قَوِي وِلَوْ بَابَا شَافْهَا عَنْدِك، تِبْقَا مْصِيبَة.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"/>
          <p:cNvSpPr/>
          <p:nvPr/>
        </p:nvSpPr>
        <p:spPr>
          <a:xfrm>
            <a:off x="6589644" y="0"/>
            <a:ext cx="5602356" cy="4194313"/>
          </a:xfrm>
          <a:prstGeom prst="rect">
            <a:avLst/>
          </a:prstGeom>
          <a:solidFill>
            <a:srgbClr val="A84DB8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بُوت                             des bottes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حِجَاب                              un voile 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جَزْمَة                  des chaussures                   </a:t>
            </a:r>
            <a:endParaRPr/>
          </a:p>
        </p:txBody>
      </p:sp>
      <p:sp>
        <p:nvSpPr>
          <p:cNvPr id="241" name="Google Shape;241;p4"/>
          <p:cNvSpPr/>
          <p:nvPr/>
        </p:nvSpPr>
        <p:spPr>
          <a:xfrm>
            <a:off x="0" y="0"/>
            <a:ext cx="5506277" cy="4104861"/>
          </a:xfrm>
          <a:prstGeom prst="rect">
            <a:avLst/>
          </a:prstGeom>
          <a:solidFill>
            <a:srgbClr val="A84DB8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قَمِيص                      une chemise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بَنْطَلُون                     un pantalon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فُسْتَان                            une robe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1639955" y="4035287"/>
            <a:ext cx="8010939" cy="2822713"/>
          </a:xfrm>
          <a:prstGeom prst="wave">
            <a:avLst>
              <a:gd fmla="val 12500" name="adj1"/>
              <a:gd fmla="val 0" name="adj2"/>
            </a:avLst>
          </a:prstGeom>
          <a:solidFill>
            <a:srgbClr val="DDB8E3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فُسْتَان حَرِير                   une robe en soie</a:t>
            </a:r>
            <a:endParaRPr b="1" sz="28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فُسْتَان قَطِيفَة                  en velours une robe</a:t>
            </a:r>
            <a:endParaRPr b="1" sz="28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فُسْتَان قُطْن                   en cotton une robe</a:t>
            </a:r>
            <a:endParaRPr b="1" sz="28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4DB8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14350" lvl="0" marL="514350" marR="0" rtl="1" algn="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Times New Roman"/>
              <a:buAutoNum type="arabicPeriod"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جُوزِي بِيِشْتَغَل فِي بَنْك، عَشَان كِدَا كُلِّ يُوم بِيِلْبَس قَمِيص جِدِيد.</a:t>
            </a:r>
            <a:endParaRPr/>
          </a:p>
          <a:p>
            <a:pPr indent="-311150" lvl="0" marL="5143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اِلْبَنْطَلُون الْأَسْوَد دَا شِيك أَوِي، بَسِّ مَقَاسِي مِشْ مَوْجُود عَنْدُهم.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اِلْجَزْمَة دِي جِلْد وِغَالْيَة قَوِي، نَادْيَة اشْتَرِتْهَا مِنْ بَارِيس.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جُورْج اشْتَرَى لِابْنُه بُوت جِدِيد عَشَان نَجَح فِالاِمْتِحَان.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خَدِيجَة أَنِيقَة جِدًّا وِالْحِجَاب بْتَاعْهَا دَايْمًا جَمِيل.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"/>
          <p:cNvSpPr/>
          <p:nvPr/>
        </p:nvSpPr>
        <p:spPr>
          <a:xfrm>
            <a:off x="6480313" y="1515716"/>
            <a:ext cx="5602356" cy="4084983"/>
          </a:xfrm>
          <a:prstGeom prst="rect">
            <a:avLst/>
          </a:prstGeom>
          <a:solidFill>
            <a:srgbClr val="A84DB8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مَايُوه            un maillot de bain 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جُوَانْتِي                         des gants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كُوفِيَّة                      une écharpe 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</a:t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0" y="1515715"/>
            <a:ext cx="5506277" cy="4084983"/>
          </a:xfrm>
          <a:prstGeom prst="rect">
            <a:avLst/>
          </a:prstGeom>
          <a:solidFill>
            <a:srgbClr val="A84DB8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شَرَاب                  une chaussette       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جَلَبِيَّة                         un djellaba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قَمِيص نُوم                  un pyjama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بُلُوفَر                       un chandail</a:t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4DB8"/>
          </a:solidFill>
          <a:ln cap="flat" cmpd="sng" w="12700">
            <a:solidFill>
              <a:srgbClr val="8F71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14350" lvl="0" marL="514350" marR="0" rtl="1" algn="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Times New Roman"/>
              <a:buAutoNum type="arabicPeriod"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جَلَبِيِّةْ الْعِيد دِي حِلْوَة، اِشْتَرِتِيهَا مْنِين؟</a:t>
            </a:r>
            <a:endParaRPr/>
          </a:p>
          <a:p>
            <a:pPr indent="-311150" lvl="0" marL="5143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مِنْ رَاتِب الشَّهْر الجَّايّ حَاشْتِرِي بُلُوفَر وِبَنْطَلُون.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إِيه دَا؟ شَرَاب أَزْرَق وِشَرَاب أَخْضَر وِالثَّالِث بُنِّيّ... مَا فِيش وَاحِد زَيِّ الثَّانِي؟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اِلْجُوَانْتِي الزُّرْق دُول حِلْوِين، تِحِبِّ أَشْتَرِيهُم لَك؟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اِلْفُسْتَان الْحَرِيرِي دَا بِيْجَنِّن وِلُونُه كَمَان، أَنَا حَشْتَرِيهْ عَشَان حَفْلِةْ التَّخَرُّج بِتَاعْتِي.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lowVTI">
  <a:themeElements>
    <a:clrScheme name="AnalogousFromLightSeedLeftStep">
      <a:dk1>
        <a:srgbClr val="000000"/>
      </a:dk1>
      <a:lt1>
        <a:srgbClr val="FFFFFF"/>
      </a:lt1>
      <a:dk2>
        <a:srgbClr val="3C2441"/>
      </a:dk2>
      <a:lt2>
        <a:srgbClr val="E2E5E8"/>
      </a:lt2>
      <a:accent1>
        <a:srgbClr val="C49B6D"/>
      </a:accent1>
      <a:accent2>
        <a:srgbClr val="C67B72"/>
      </a:accent2>
      <a:accent3>
        <a:srgbClr val="D18CA1"/>
      </a:accent3>
      <a:accent4>
        <a:srgbClr val="C672B0"/>
      </a:accent4>
      <a:accent5>
        <a:srgbClr val="C78CD1"/>
      </a:accent5>
      <a:accent6>
        <a:srgbClr val="9772C6"/>
      </a:accent6>
      <a:hlink>
        <a:srgbClr val="6184A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2023-05-05T08:19:02Z</dcterms:created>
  <dc:creator>Leila Alami</dc:creator>
</cp:coreProperties>
</file>