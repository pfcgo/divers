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9" roundtripDataSignature="AMtx7mhXk2vR87MBKV7AoFX0NQs9axr9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6"/>
          <p:cNvSpPr txBox="1"/>
          <p:nvPr>
            <p:ph type="ctrTitle"/>
          </p:nvPr>
        </p:nvSpPr>
        <p:spPr>
          <a:xfrm>
            <a:off x="2035130" y="1066800"/>
            <a:ext cx="8112369" cy="20731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subTitle"/>
          </p:nvPr>
        </p:nvSpPr>
        <p:spPr>
          <a:xfrm>
            <a:off x="2175804" y="4876802"/>
            <a:ext cx="7821637" cy="1028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6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1" type="ftr"/>
          </p:nvPr>
        </p:nvSpPr>
        <p:spPr>
          <a:xfrm>
            <a:off x="7279965" y="6245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9" name="Google Shape;19;p6"/>
          <p:cNvGrpSpPr/>
          <p:nvPr/>
        </p:nvGrpSpPr>
        <p:grpSpPr>
          <a:xfrm>
            <a:off x="5662258" y="4216652"/>
            <a:ext cx="867485" cy="163226"/>
            <a:chOff x="8910933" y="1837414"/>
            <a:chExt cx="867485" cy="163226"/>
          </a:xfrm>
        </p:grpSpPr>
        <p:sp>
          <p:nvSpPr>
            <p:cNvPr id="20" name="Google Shape;20;p6"/>
            <p:cNvSpPr/>
            <p:nvPr/>
          </p:nvSpPr>
          <p:spPr>
            <a:xfrm flipH="1" rot="-2635175">
              <a:off x="9286956" y="1861308"/>
              <a:ext cx="115439" cy="115439"/>
            </a:xfrm>
            <a:prstGeom prst="rect">
              <a:avLst/>
            </a:prstGeom>
            <a:noFill/>
            <a:ln cap="flat" cmpd="sng" w="1587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" name="Google Shape;21;p6"/>
            <p:cNvCxnSpPr/>
            <p:nvPr/>
          </p:nvCxnSpPr>
          <p:spPr>
            <a:xfrm>
              <a:off x="9426289" y="1919027"/>
              <a:ext cx="352129" cy="0"/>
            </a:xfrm>
            <a:prstGeom prst="straightConnector1">
              <a:avLst/>
            </a:prstGeom>
            <a:noFill/>
            <a:ln cap="flat" cmpd="sng" w="1587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6"/>
            <p:cNvCxnSpPr/>
            <p:nvPr/>
          </p:nvCxnSpPr>
          <p:spPr>
            <a:xfrm>
              <a:off x="8910933" y="1919027"/>
              <a:ext cx="352129" cy="0"/>
            </a:xfrm>
            <a:prstGeom prst="straightConnector1">
              <a:avLst/>
            </a:prstGeom>
            <a:noFill/>
            <a:ln cap="flat" cmpd="sng" w="1587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32575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30"/>
              <a:buChar char="•"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3" name="Google Shape;33;p8"/>
          <p:cNvSpPr/>
          <p:nvPr/>
        </p:nvSpPr>
        <p:spPr>
          <a:xfrm>
            <a:off x="723900" y="750338"/>
            <a:ext cx="4580642" cy="5494694"/>
          </a:xfrm>
          <a:custGeom>
            <a:rect b="b" l="l" r="r" t="t"/>
            <a:pathLst>
              <a:path extrusionOk="0" h="6858000" w="6096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lt2">
              <a:alpha val="80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34;p8"/>
          <p:cNvGrpSpPr/>
          <p:nvPr/>
        </p:nvGrpSpPr>
        <p:grpSpPr>
          <a:xfrm>
            <a:off x="2580478" y="4690810"/>
            <a:ext cx="867485" cy="163226"/>
            <a:chOff x="8910933" y="1837414"/>
            <a:chExt cx="867485" cy="163226"/>
          </a:xfrm>
        </p:grpSpPr>
        <p:sp>
          <p:nvSpPr>
            <p:cNvPr id="35" name="Google Shape;35;p8"/>
            <p:cNvSpPr/>
            <p:nvPr/>
          </p:nvSpPr>
          <p:spPr>
            <a:xfrm flipH="1" rot="-2635175">
              <a:off x="9286956" y="1861308"/>
              <a:ext cx="115439" cy="115439"/>
            </a:xfrm>
            <a:prstGeom prst="rect">
              <a:avLst/>
            </a:prstGeom>
            <a:noFill/>
            <a:ln cap="flat" cmpd="sng" w="1587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" name="Google Shape;36;p8"/>
            <p:cNvCxnSpPr/>
            <p:nvPr/>
          </p:nvCxnSpPr>
          <p:spPr>
            <a:xfrm>
              <a:off x="9426289" y="1919027"/>
              <a:ext cx="352129" cy="0"/>
            </a:xfrm>
            <a:prstGeom prst="straightConnector1">
              <a:avLst/>
            </a:prstGeom>
            <a:noFill/>
            <a:ln cap="flat" cmpd="sng" w="1587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" name="Google Shape;37;p8"/>
            <p:cNvCxnSpPr/>
            <p:nvPr/>
          </p:nvCxnSpPr>
          <p:spPr>
            <a:xfrm>
              <a:off x="8910933" y="1919027"/>
              <a:ext cx="352129" cy="0"/>
            </a:xfrm>
            <a:prstGeom prst="straightConnector1">
              <a:avLst/>
            </a:prstGeom>
            <a:noFill/>
            <a:ln cap="flat" cmpd="sng" w="1587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8" name="Google Shape;38;p8"/>
          <p:cNvSpPr txBox="1"/>
          <p:nvPr>
            <p:ph type="title"/>
          </p:nvPr>
        </p:nvSpPr>
        <p:spPr>
          <a:xfrm>
            <a:off x="1151291" y="1274475"/>
            <a:ext cx="3761832" cy="2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556756" y="2730304"/>
            <a:ext cx="4383030" cy="1397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1037305" y="2155369"/>
            <a:ext cx="4953000" cy="3998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32575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30"/>
              <a:buChar char="•"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172200" y="2155369"/>
            <a:ext cx="4953000" cy="3998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32575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30"/>
              <a:buChar char="•"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1028700" y="555171"/>
            <a:ext cx="10134600" cy="11355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1037306" y="1801620"/>
            <a:ext cx="4849036" cy="814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sz="18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1037306" y="2619103"/>
            <a:ext cx="4849036" cy="351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32575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30"/>
              <a:buChar char="•"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3" type="body"/>
          </p:nvPr>
        </p:nvSpPr>
        <p:spPr>
          <a:xfrm>
            <a:off x="6250108" y="1801620"/>
            <a:ext cx="4904585" cy="814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sz="18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0"/>
          <p:cNvSpPr txBox="1"/>
          <p:nvPr>
            <p:ph idx="4" type="body"/>
          </p:nvPr>
        </p:nvSpPr>
        <p:spPr>
          <a:xfrm>
            <a:off x="6250108" y="2619103"/>
            <a:ext cx="4904585" cy="351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32575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30"/>
              <a:buChar char="•"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1066800" y="457200"/>
            <a:ext cx="37052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5183188" y="1066800"/>
            <a:ext cx="6172200" cy="4838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indent="-37973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380"/>
              <a:buChar char="•"/>
              <a:defRPr sz="28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1066800" y="2057400"/>
            <a:ext cx="370522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9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1066800" y="457200"/>
            <a:ext cx="37052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/>
          <p:nvPr>
            <p:ph idx="2" type="pic"/>
          </p:nvPr>
        </p:nvSpPr>
        <p:spPr>
          <a:xfrm>
            <a:off x="5183188" y="1066800"/>
            <a:ext cx="5942012" cy="48387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1066800" y="2057400"/>
            <a:ext cx="370522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9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 rot="5400000">
            <a:off x="4224202" y="-1033598"/>
            <a:ext cx="3743597" cy="101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32575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30"/>
              <a:buChar char="•"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7627074" y="2293075"/>
            <a:ext cx="5410201" cy="22718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2170066" y="-722267"/>
            <a:ext cx="5410201" cy="8302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32575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30"/>
              <a:buChar char="•"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5755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3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" name="Google Shape;9;p5"/>
          <p:cNvSpPr txBox="1"/>
          <p:nvPr>
            <p:ph idx="10" type="dt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1" type="ftr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7124700" y="1028700"/>
            <a:ext cx="4038600" cy="4841072"/>
          </a:xfrm>
          <a:custGeom>
            <a:rect b="b" l="l" r="r" t="t"/>
            <a:pathLst>
              <a:path extrusionOk="0" h="6858000" w="6096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8710258" y="4526256"/>
            <a:ext cx="867485" cy="163226"/>
            <a:chOff x="8910933" y="1837414"/>
            <a:chExt cx="867485" cy="163226"/>
          </a:xfrm>
        </p:grpSpPr>
        <p:sp>
          <p:nvSpPr>
            <p:cNvPr id="98" name="Google Shape;98;p1"/>
            <p:cNvSpPr/>
            <p:nvPr/>
          </p:nvSpPr>
          <p:spPr>
            <a:xfrm flipH="1" rot="-2635175">
              <a:off x="9286956" y="1861308"/>
              <a:ext cx="115439" cy="115439"/>
            </a:xfrm>
            <a:prstGeom prst="rect">
              <a:avLst/>
            </a:prstGeom>
            <a:noFill/>
            <a:ln cap="flat" cmpd="sng" w="1587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" name="Google Shape;99;p1"/>
            <p:cNvCxnSpPr/>
            <p:nvPr/>
          </p:nvCxnSpPr>
          <p:spPr>
            <a:xfrm>
              <a:off x="9426289" y="1919027"/>
              <a:ext cx="352129" cy="0"/>
            </a:xfrm>
            <a:prstGeom prst="straightConnector1">
              <a:avLst/>
            </a:prstGeom>
            <a:noFill/>
            <a:ln cap="flat" cmpd="sng" w="1587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" name="Google Shape;100;p1"/>
            <p:cNvCxnSpPr/>
            <p:nvPr/>
          </p:nvCxnSpPr>
          <p:spPr>
            <a:xfrm>
              <a:off x="8910933" y="1919027"/>
              <a:ext cx="352129" cy="0"/>
            </a:xfrm>
            <a:prstGeom prst="straightConnector1">
              <a:avLst/>
            </a:prstGeom>
            <a:noFill/>
            <a:ln cap="flat" cmpd="sng" w="1587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24514" r="31041" t="0"/>
          <a:stretch/>
        </p:blipFill>
        <p:spPr>
          <a:xfrm>
            <a:off x="20" y="11"/>
            <a:ext cx="1219198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-92776" y="787106"/>
            <a:ext cx="8189844" cy="3339548"/>
          </a:xfrm>
          <a:prstGeom prst="flowChartProcess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8800" u="none" cap="none" strike="noStrike">
                <a:solidFill>
                  <a:srgbClr val="EAD1D5"/>
                </a:solidFill>
                <a:latin typeface="Algerian"/>
                <a:ea typeface="Algerian"/>
                <a:cs typeface="Algerian"/>
                <a:sym typeface="Algerian"/>
              </a:rPr>
              <a:t>LES ADJECTIFS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4939748" y="3775616"/>
            <a:ext cx="9071557" cy="3339548"/>
          </a:xfrm>
          <a:prstGeom prst="flowChartProcess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8800" u="none" cap="none" strike="noStrike">
                <a:solidFill>
                  <a:schemeClr val="accent5"/>
                </a:solidFill>
                <a:latin typeface="Algerian"/>
                <a:ea typeface="Algerian"/>
                <a:cs typeface="Algerian"/>
                <a:sym typeface="Algerian"/>
              </a:rPr>
              <a:t>COULEURS</a:t>
            </a:r>
            <a:endParaRPr b="1" i="0" sz="8800" u="none" cap="none" strike="noStrike">
              <a:solidFill>
                <a:srgbClr val="EAD1D5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7340156" y="2905562"/>
            <a:ext cx="2277850" cy="1740107"/>
          </a:xfrm>
          <a:prstGeom prst="flowChartProcess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8800" u="none" cap="none" strike="noStrike">
                <a:solidFill>
                  <a:schemeClr val="accent4"/>
                </a:solidFill>
                <a:latin typeface="Algerian"/>
                <a:ea typeface="Algerian"/>
                <a:cs typeface="Algerian"/>
                <a:sym typeface="Algerian"/>
              </a:rPr>
              <a:t>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5DDE3"/>
          </a:solidFill>
          <a:ln cap="flat" cmpd="sng" w="12700">
            <a:solidFill>
              <a:srgbClr val="8C66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0" y="1600200"/>
            <a:ext cx="5516217" cy="5257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8C66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Blanc					أَبْيَض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Noir					أَسْوَد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Bleu					أَزْرَق	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Jaune					أَصْفَر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					أَخْضَر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095999" y="1600200"/>
            <a:ext cx="6096000" cy="5257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8C66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Rouge				  أَحْمَر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Orange			   بُرْتُقَانِي        	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Rose				 وَرْدِي        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Violet				      بَنَفْسَجِي      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3319669" y="79514"/>
            <a:ext cx="5019262" cy="894522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12700">
            <a:solidFill>
              <a:srgbClr val="8C66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اِلْأَلْوَان (اَلْمُذَكَّر)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Les adjectifs de couleurs (au masculin)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5DDE3"/>
          </a:solidFill>
          <a:ln cap="flat" cmpd="sng" w="12700">
            <a:solidFill>
              <a:srgbClr val="8C66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096000" y="1500808"/>
            <a:ext cx="6096000" cy="53571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8C66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Rouge				  حَمْرَا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Orange			   بُرْتُقَانِيَّة       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Rose				 وَرْدِيَّة        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Violet				      بَنَفْسَجِيَّة      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-1" y="1500808"/>
            <a:ext cx="5774635" cy="53571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8C66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Blanche				بِيضَة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Noire					سُودَة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Bleue					زَرْقَا	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Jaune					صَفْرَا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					خَضْرَا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319669" y="79514"/>
            <a:ext cx="5019262" cy="894522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12700">
            <a:solidFill>
              <a:srgbClr val="8C66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اِلْأَلْوَان (اَلْمُؤَنَّث)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Les adjectifs de couleurs (au féminin)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8C66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فِين قَمِيصِي الْأَبْيَض (لَبْيَض)؟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Où est ma chemise blanche ?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أَدْهَم عَايِز يِشْتِرِي بَدْلَة زَرْقَا.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Adham veut acheter un costume bleu.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سَارَة لِبْسِت فُسْتَان أَحْمَر وِجَزْمَة سُودَة عَشَان تِرُوح الْحَفْلَة.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Sara ha mis une robe rouge et des chaussures noires pour aller à la f</a:t>
            </a:r>
            <a:r>
              <a:rPr b="1" lang="it-IT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ê</a:t>
            </a: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أَنَا بَحِبّ الْأَلْوَان الْفَاتْحَة زَيِّ الْأَبْيَض وِالْوَرْدِي.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Moi, j’aime les couleurs claires comme le blanc et le rose.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سَحَر بِتْفَضَّل الْأَلْوَان الْغَامْقَة زَيِّ الْبُنِّيّ وِالْأَسْوَد.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Sahar préfère les couleurs foncées comme le marron et le noir.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orn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2023-03-24T11:06:35Z</dcterms:created>
  <dc:creator>Leila Alami</dc:creator>
</cp:coreProperties>
</file>