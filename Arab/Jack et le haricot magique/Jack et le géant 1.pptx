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Lst>
  <p:sldSz cy="6858000" cx="12192000"/>
  <p:notesSz cx="6858000" cy="9144000"/>
  <p:embeddedFontLst>
    <p:embeddedFont>
      <p:font typeface="Noto Sans"/>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1" roundtripDataSignature="AMtx7mi+EAPnVSv9C9enDRlVk66W8AcT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customschemas.google.com/relationships/presentationmetadata" Target="metadata"/><Relationship Id="rId10" Type="http://schemas.openxmlformats.org/officeDocument/2006/relationships/font" Target="fonts/NotoSans-boldItalic.fntdata"/><Relationship Id="rId9" Type="http://schemas.openxmlformats.org/officeDocument/2006/relationships/font" Target="fonts/Noto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font" Target="fonts/NotoSans-regular.fntdata"/><Relationship Id="rId8" Type="http://schemas.openxmlformats.org/officeDocument/2006/relationships/font" Target="fonts/Noto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ar-SA" sz="4000">
                <a:solidFill>
                  <a:srgbClr val="2C2F34"/>
                </a:solidFill>
                <a:latin typeface="Noto Sans"/>
                <a:ea typeface="Noto Sans"/>
                <a:cs typeface="Noto Sans"/>
                <a:sym typeface="Noto Sans"/>
              </a:rPr>
              <a:t>كَان يَا مَا كَان = once upon a time</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كَان فِي سِتّ = il y avait une femme</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عَجُوزَة = vielle</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فَقِيرَة = pauvre</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وِابْنَهَا جَاك = et son fils Jack</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عَايْشِين = vivant (qui vivait</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فِي بَلَد صُغَيَّرَة = dans un pays/village petit</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وْفِي يُوم = un jour</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طَلَبِت أُمّ جَاك = la maman de jack a demande</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مِنُّه = a lui</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إِنُّه = qu'il</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يْبِيع = vente</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بَقَرَة = vache</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وَاحْدَة = une</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قَابِل = rencontrer</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رَاجِل = un homme</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حَبَّات فَاصُولْيَا = 5 grains de haricots sec</a:t>
            </a:r>
            <a:endParaRPr sz="4000">
              <a:solidFill>
                <a:srgbClr val="2C2F34"/>
              </a:solidFill>
              <a:latin typeface="Noto Sans"/>
              <a:ea typeface="Noto Sans"/>
              <a:cs typeface="Noto Sans"/>
              <a:sym typeface="Noto Sans"/>
            </a:endParaRPr>
          </a:p>
          <a:p>
            <a:pPr indent="0" lvl="0" marL="0" rtl="1" algn="r">
              <a:spcBef>
                <a:spcPts val="0"/>
              </a:spcBef>
              <a:spcAft>
                <a:spcPts val="0"/>
              </a:spcAft>
              <a:buNone/>
            </a:pPr>
            <a:r>
              <a:rPr lang="ar-SA" sz="4000">
                <a:solidFill>
                  <a:srgbClr val="2C2F34"/>
                </a:solidFill>
                <a:latin typeface="Noto Sans"/>
                <a:ea typeface="Noto Sans"/>
                <a:cs typeface="Noto Sans"/>
                <a:sym typeface="Noto Sans"/>
              </a:rPr>
              <a:t>مَسْحُورَة، = magique</a:t>
            </a:r>
            <a:endParaRPr sz="4000">
              <a:solidFill>
                <a:srgbClr val="2C2F34"/>
              </a:solidFill>
              <a:latin typeface="Noto Sans"/>
              <a:ea typeface="Noto Sans"/>
              <a:cs typeface="Noto Sans"/>
              <a:sym typeface="Noto Sans"/>
            </a:endParaRPr>
          </a:p>
          <a:p>
            <a:pPr indent="0" lvl="0" marL="0" rtl="1" algn="r">
              <a:spcBef>
                <a:spcPts val="0"/>
              </a:spcBef>
              <a:spcAft>
                <a:spcPts val="0"/>
              </a:spcAft>
              <a:buClr>
                <a:schemeClr val="dk1"/>
              </a:buClr>
              <a:buFont typeface="Arial"/>
              <a:buNone/>
            </a:pPr>
            <a:r>
              <a:rPr lang="ar-SA" sz="4000">
                <a:solidFill>
                  <a:srgbClr val="2C2F34"/>
                </a:solidFill>
                <a:latin typeface="Noto Sans"/>
                <a:ea typeface="Noto Sans"/>
                <a:cs typeface="Noto Sans"/>
                <a:sym typeface="Noto Sans"/>
              </a:rPr>
              <a:t>وِلَمَّا </a:t>
            </a:r>
            <a:endParaRPr sz="4000">
              <a:solidFill>
                <a:srgbClr val="2C2F34"/>
              </a:solidFill>
              <a:latin typeface="Noto Sans"/>
              <a:ea typeface="Noto Sans"/>
              <a:cs typeface="Noto Sans"/>
              <a:sym typeface="Noto Sans"/>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11" name="Shape 11"/>
        <p:cNvGrpSpPr/>
        <p:nvPr/>
      </p:nvGrpSpPr>
      <p:grpSpPr>
        <a:xfrm>
          <a:off x="0" y="0"/>
          <a:ext cx="0" cy="0"/>
          <a:chOff x="0" y="0"/>
          <a:chExt cx="0" cy="0"/>
        </a:xfrm>
      </p:grpSpPr>
      <p:sp>
        <p:nvSpPr>
          <p:cNvPr id="12" name="Google Shape;12;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17" name="Shape 17"/>
        <p:cNvGrpSpPr/>
        <p:nvPr/>
      </p:nvGrpSpPr>
      <p:grpSpPr>
        <a:xfrm>
          <a:off x="0" y="0"/>
          <a:ext cx="0" cy="0"/>
          <a:chOff x="0" y="0"/>
          <a:chExt cx="0" cy="0"/>
        </a:xfrm>
      </p:grpSpPr>
      <p:sp>
        <p:nvSpPr>
          <p:cNvPr id="18" name="Google Shape;1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23" name="Shape 23"/>
        <p:cNvGrpSpPr/>
        <p:nvPr/>
      </p:nvGrpSpPr>
      <p:grpSpPr>
        <a:xfrm>
          <a:off x="0" y="0"/>
          <a:ext cx="0" cy="0"/>
          <a:chOff x="0" y="0"/>
          <a:chExt cx="0" cy="0"/>
        </a:xfrm>
      </p:grpSpPr>
      <p:sp>
        <p:nvSpPr>
          <p:cNvPr id="24" name="Google Shape;24;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29" name="Shape 29"/>
        <p:cNvGrpSpPr/>
        <p:nvPr/>
      </p:nvGrpSpPr>
      <p:grpSpPr>
        <a:xfrm>
          <a:off x="0" y="0"/>
          <a:ext cx="0" cy="0"/>
          <a:chOff x="0" y="0"/>
          <a:chExt cx="0" cy="0"/>
        </a:xfrm>
      </p:grpSpPr>
      <p:sp>
        <p:nvSpPr>
          <p:cNvPr id="30" name="Google Shape;3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36" name="Shape 36"/>
        <p:cNvGrpSpPr/>
        <p:nvPr/>
      </p:nvGrpSpPr>
      <p:grpSpPr>
        <a:xfrm>
          <a:off x="0" y="0"/>
          <a:ext cx="0" cy="0"/>
          <a:chOff x="0" y="0"/>
          <a:chExt cx="0" cy="0"/>
        </a:xfrm>
      </p:grpSpPr>
      <p:sp>
        <p:nvSpPr>
          <p:cNvPr id="37" name="Google Shape;37;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45" name="Shape 45"/>
        <p:cNvGrpSpPr/>
        <p:nvPr/>
      </p:nvGrpSpPr>
      <p:grpSpPr>
        <a:xfrm>
          <a:off x="0" y="0"/>
          <a:ext cx="0" cy="0"/>
          <a:chOff x="0" y="0"/>
          <a:chExt cx="0" cy="0"/>
        </a:xfrm>
      </p:grpSpPr>
      <p:sp>
        <p:nvSpPr>
          <p:cNvPr id="46" name="Google Shape;4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0" name="Shape 50"/>
        <p:cNvGrpSpPr/>
        <p:nvPr/>
      </p:nvGrpSpPr>
      <p:grpSpPr>
        <a:xfrm>
          <a:off x="0" y="0"/>
          <a:ext cx="0" cy="0"/>
          <a:chOff x="0" y="0"/>
          <a:chExt cx="0" cy="0"/>
        </a:xfrm>
      </p:grpSpPr>
      <p:sp>
        <p:nvSpPr>
          <p:cNvPr id="51" name="Google Shape;5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4" name="Shape 54"/>
        <p:cNvGrpSpPr/>
        <p:nvPr/>
      </p:nvGrpSpPr>
      <p:grpSpPr>
        <a:xfrm>
          <a:off x="0" y="0"/>
          <a:ext cx="0" cy="0"/>
          <a:chOff x="0" y="0"/>
          <a:chExt cx="0" cy="0"/>
        </a:xfrm>
      </p:grpSpPr>
      <p:sp>
        <p:nvSpPr>
          <p:cNvPr id="55" name="Google Shape;55;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1" name="Shape 61"/>
        <p:cNvGrpSpPr/>
        <p:nvPr/>
      </p:nvGrpSpPr>
      <p:grpSpPr>
        <a:xfrm>
          <a:off x="0" y="0"/>
          <a:ext cx="0" cy="0"/>
          <a:chOff x="0" y="0"/>
          <a:chExt cx="0" cy="0"/>
        </a:xfrm>
      </p:grpSpPr>
      <p:sp>
        <p:nvSpPr>
          <p:cNvPr id="62" name="Google Shape;62;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2"/>
          <p:cNvSpPr/>
          <p:nvPr>
            <p:ph idx="2" type="pic"/>
          </p:nvPr>
        </p:nvSpPr>
        <p:spPr>
          <a:xfrm>
            <a:off x="5183188" y="987425"/>
            <a:ext cx="6172200" cy="4873625"/>
          </a:xfrm>
          <a:prstGeom prst="rect">
            <a:avLst/>
          </a:prstGeom>
          <a:noFill/>
          <a:ln>
            <a:noFill/>
          </a:ln>
        </p:spPr>
      </p:sp>
      <p:sp>
        <p:nvSpPr>
          <p:cNvPr id="64" name="Google Shape;64;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68" name="Shape 68"/>
        <p:cNvGrpSpPr/>
        <p:nvPr/>
      </p:nvGrpSpPr>
      <p:grpSpPr>
        <a:xfrm>
          <a:off x="0" y="0"/>
          <a:ext cx="0" cy="0"/>
          <a:chOff x="0" y="0"/>
          <a:chExt cx="0" cy="0"/>
        </a:xfrm>
      </p:grpSpPr>
      <p:sp>
        <p:nvSpPr>
          <p:cNvPr id="69" name="Google Shape;6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4" name="Shape 74"/>
        <p:cNvGrpSpPr/>
        <p:nvPr/>
      </p:nvGrpSpPr>
      <p:grpSpPr>
        <a:xfrm>
          <a:off x="0" y="0"/>
          <a:ext cx="0" cy="0"/>
          <a:chOff x="0" y="0"/>
          <a:chExt cx="0" cy="0"/>
        </a:xfrm>
      </p:grpSpPr>
      <p:sp>
        <p:nvSpPr>
          <p:cNvPr id="75" name="Google Shape;75;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ar-S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Nuvole rosa e blu" id="84" name="Google Shape;84;p1"/>
          <p:cNvPicPr preferRelativeResize="0"/>
          <p:nvPr/>
        </p:nvPicPr>
        <p:blipFill rotWithShape="1">
          <a:blip r:embed="rId3">
            <a:alphaModFix amt="70000"/>
          </a:blip>
          <a:srcRect b="-1" l="0" r="-1" t="14117"/>
          <a:stretch/>
        </p:blipFill>
        <p:spPr>
          <a:xfrm>
            <a:off x="20" y="1386"/>
            <a:ext cx="12188932" cy="6856614"/>
          </a:xfrm>
          <a:prstGeom prst="rect">
            <a:avLst/>
          </a:prstGeom>
          <a:noFill/>
          <a:ln>
            <a:noFill/>
          </a:ln>
        </p:spPr>
      </p:pic>
      <p:pic>
        <p:nvPicPr>
          <p:cNvPr descr="Mucca ballerina" id="85" name="Google Shape;85;p1"/>
          <p:cNvPicPr preferRelativeResize="0"/>
          <p:nvPr/>
        </p:nvPicPr>
        <p:blipFill rotWithShape="1">
          <a:blip r:embed="rId4">
            <a:alphaModFix/>
          </a:blip>
          <a:srcRect b="0" l="0" r="0" t="0"/>
          <a:stretch/>
        </p:blipFill>
        <p:spPr>
          <a:xfrm>
            <a:off x="41342" y="-762189"/>
            <a:ext cx="1984304" cy="5162050"/>
          </a:xfrm>
          <a:prstGeom prst="rect">
            <a:avLst/>
          </a:prstGeom>
          <a:noFill/>
          <a:ln>
            <a:noFill/>
          </a:ln>
        </p:spPr>
      </p:pic>
      <p:pic>
        <p:nvPicPr>
          <p:cNvPr descr="Mucca ballerina" id="86" name="Google Shape;86;p1"/>
          <p:cNvPicPr preferRelativeResize="0"/>
          <p:nvPr/>
        </p:nvPicPr>
        <p:blipFill rotWithShape="1">
          <a:blip r:embed="rId5">
            <a:alphaModFix/>
          </a:blip>
          <a:srcRect b="0" l="0" r="0" t="0"/>
          <a:stretch/>
        </p:blipFill>
        <p:spPr>
          <a:xfrm>
            <a:off x="10365606" y="2061824"/>
            <a:ext cx="1893844" cy="5151699"/>
          </a:xfrm>
          <a:prstGeom prst="rect">
            <a:avLst/>
          </a:prstGeom>
          <a:noFill/>
          <a:ln>
            <a:noFill/>
          </a:ln>
        </p:spPr>
      </p:pic>
      <p:sp>
        <p:nvSpPr>
          <p:cNvPr id="87" name="Google Shape;87;p1"/>
          <p:cNvSpPr/>
          <p:nvPr/>
        </p:nvSpPr>
        <p:spPr>
          <a:xfrm>
            <a:off x="3524877" y="2946400"/>
            <a:ext cx="5736535" cy="1289143"/>
          </a:xfrm>
          <a:prstGeom prst="rect">
            <a:avLst/>
          </a:prstGeom>
          <a:gradFill>
            <a:gsLst>
              <a:gs pos="0">
                <a:srgbClr val="939393"/>
              </a:gs>
              <a:gs pos="50000">
                <a:srgbClr val="D5D5D5"/>
              </a:gs>
              <a:gs pos="100000">
                <a:schemeClr val="lt1"/>
              </a:gs>
            </a:gsLst>
            <a:path path="circle">
              <a:fillToRect b="50%" l="50%" r="50%" t="50%"/>
            </a:path>
            <a:tileRect/>
          </a:gradFill>
          <a:ln cap="flat" cmpd="sng" w="762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rPr b="1" i="0" lang="ar-SA" sz="7200" u="none" cap="none" strike="noStrike">
                <a:solidFill>
                  <a:schemeClr val="dk1"/>
                </a:solidFill>
                <a:latin typeface="Times New Roman"/>
                <a:ea typeface="Times New Roman"/>
                <a:cs typeface="Times New Roman"/>
                <a:sym typeface="Times New Roman"/>
              </a:rPr>
              <a:t>جَاك وِالْعِمْلَاق</a:t>
            </a:r>
            <a:endParaRPr b="1" i="0" sz="7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Nuvole rosa e blu" id="92" name="Google Shape;92;p2"/>
          <p:cNvPicPr preferRelativeResize="0"/>
          <p:nvPr/>
        </p:nvPicPr>
        <p:blipFill rotWithShape="1">
          <a:blip r:embed="rId3">
            <a:alphaModFix amt="70000"/>
          </a:blip>
          <a:srcRect b="-1" l="0" r="-1" t="14117"/>
          <a:stretch/>
        </p:blipFill>
        <p:spPr>
          <a:xfrm>
            <a:off x="20" y="10"/>
            <a:ext cx="12188932" cy="6856614"/>
          </a:xfrm>
          <a:prstGeom prst="rect">
            <a:avLst/>
          </a:prstGeom>
          <a:noFill/>
          <a:ln>
            <a:noFill/>
          </a:ln>
        </p:spPr>
      </p:pic>
      <p:sp>
        <p:nvSpPr>
          <p:cNvPr id="93" name="Google Shape;93;p2"/>
          <p:cNvSpPr/>
          <p:nvPr/>
        </p:nvSpPr>
        <p:spPr>
          <a:xfrm>
            <a:off x="54665" y="1362450"/>
            <a:ext cx="12070598" cy="4131733"/>
          </a:xfrm>
          <a:prstGeom prst="rect">
            <a:avLst/>
          </a:prstGeom>
          <a:gradFill>
            <a:gsLst>
              <a:gs pos="0">
                <a:srgbClr val="939393"/>
              </a:gs>
              <a:gs pos="50000">
                <a:srgbClr val="D5D5D5"/>
              </a:gs>
              <a:gs pos="100000">
                <a:schemeClr val="lt1"/>
              </a:gs>
            </a:gsLst>
            <a:path path="circle">
              <a:fillToRect b="50%" l="50%" r="50%" t="50%"/>
            </a:path>
            <a:tileRect/>
          </a:gradFill>
          <a:ln cap="flat" cmpd="sng" w="762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0" i="0" lang="ar-SA" sz="4000" u="none" cap="none" strike="noStrike">
                <a:solidFill>
                  <a:srgbClr val="2C2F34"/>
                </a:solidFill>
                <a:latin typeface="Noto Sans"/>
                <a:ea typeface="Noto Sans"/>
                <a:cs typeface="Noto Sans"/>
                <a:sym typeface="Noto Sans"/>
              </a:rPr>
              <a:t>كَان يَا مَا كَان، كَان فِي سِتّ عَجُوزَة فَقِيرَة وِابْنَهَا جَاك، عَايْشِين فِي بَلَد صُغَيَّرَة، وْفِي يُوم طَلَبِت أُمّ جَاك مِنُّه إِنُّه يْبِيع بَقَرَة وَاحْدَة. وِجَاك رَايِح السُّوق، قَابِل رَاجِل اِشْتَرَى مِنُّه الْبَقَرَة وِدَّاه خَمَس حَبَّات فَاصُولْيَا مَسْحُورَة، وِلَمَّا رَجَع وِحَكَى لُمُّه اِللِّي حَصَل، زِعْلِت وِقَالِت لُه. "يَعْنِي تِدِّي الرِّاجِل بَقَرَة وِتَاخُد خَمَس حَبَّات فَاصُولْيَا بَسّ"، وِرَمَت حَبَّات الْفَاصُولْيَا مِنِ الشِّبَّاك، وِزِعِل جَاك وِنَام زَعْلَان مِن غِير عَشَا.</a:t>
            </a:r>
            <a:endParaRPr b="1" i="0" sz="4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2023-05-16T14:42:26Z</dcterms:created>
  <dc:creator>Leila Alami</dc:creator>
</cp:coreProperties>
</file>