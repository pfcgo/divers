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9"/>
  </p:notesMasterIdLst>
  <p:sldIdLst>
    <p:sldId id="263" r:id="rId2"/>
    <p:sldId id="269" r:id="rId3"/>
    <p:sldId id="265" r:id="rId4"/>
    <p:sldId id="270" r:id="rId5"/>
    <p:sldId id="264" r:id="rId6"/>
    <p:sldId id="271" r:id="rId7"/>
    <p:sldId id="261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-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B26ED-034F-4E43-9F84-D537289DE0EE}" type="datetimeFigureOut">
              <a:rPr lang="it-IT" smtClean="0"/>
              <a:t>01/03/23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50109-31A3-954A-8CD5-4A84745F94D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9490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50109-31A3-954A-8CD5-4A84745F94D8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1165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50109-31A3-954A-8CD5-4A84745F94D8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2105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50109-31A3-954A-8CD5-4A84745F94D8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614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Wednesday, March 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Wednesday, March 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7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Wednesday, March 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83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Wednesday, March 1,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55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Wednesday, March 1,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018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Wednesday, March 1,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Wednesday, March 1,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5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Wednesday, March 1,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2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Wednesday, March 1,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6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Wednesday, March 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7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Wednesday, March 1,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5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Wednesday, March 1, 2023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‹N›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0203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</a:t>
            </a:r>
            <a:r>
              <a:rPr lang="it-I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(m)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avez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SA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شِرِب</a:t>
            </a:r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أَنَا 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شْرِبْت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شْرِبْت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شْرِبْتِ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هُوَ شِرِب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هِيَ شِرْبِت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i="0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إِحْنَا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شْرِبْنَا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شْرِبْتُو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هُمَّا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شِرْبُو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6379779" y="1250303"/>
            <a:ext cx="0" cy="56533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41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0" r="20846" b="-1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429E605-E1DD-5AE0-FEB7-CF621FFE85C5}"/>
              </a:ext>
            </a:extLst>
          </p:cNvPr>
          <p:cNvSpPr/>
          <p:nvPr/>
        </p:nvSpPr>
        <p:spPr>
          <a:xfrm>
            <a:off x="760930" y="864509"/>
            <a:ext cx="11151476" cy="59646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لِيه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شْرِبْتُو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مَايَّة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كْثِير؟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Pourquoi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avez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beaucoup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d’eau?</a:t>
            </a:r>
          </a:p>
          <a:p>
            <a:pPr marL="0" algn="ctr" defTabSz="914400" rtl="1" eaLnBrk="1" latinLnBrk="0" hangingPunct="1"/>
            <a:endParaRPr lang="ar-S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أَصْحَابِي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كَانُو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فْحَفْلَة مْبَارِحْ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وِشِرْبُو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نِبِيذ أَحْمَر وْنِبِيذ أَبْيَض.</a:t>
            </a:r>
          </a:p>
          <a:p>
            <a:pPr marL="0" algn="ctr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Hier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étaient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une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 vin rouge et du vin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blanc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ctr" defTabSz="914400" rtl="1" eaLnBrk="1" latinLnBrk="0" hangingPunct="1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3-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شْرِبْت فِنْجَانِين قَهْوَة وِكُبَّايِةْ شَاي وْعَصِير فَاكْهَة،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عَايِز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إِيه ثَانِي؟</a:t>
            </a:r>
          </a:p>
          <a:p>
            <a:pPr marL="0" algn="ctr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tasses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une tasse de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thé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un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fruits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veux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-tu encore?</a:t>
            </a:r>
            <a:endParaRPr lang="ar-S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endParaRPr lang="ar-S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إِحْنَا شْرِبْنَا فْحَفْلَةِ الْمَدْرَسَة عَصِير بُرْتُقَال وِأَكَلْنَا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طُّورْطَة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t-IT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l’école 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d’orange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mangé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B3FFF888-C84D-B46F-BF70-FA3506BC1BCC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890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1576556" y="1250302"/>
            <a:ext cx="4908816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s’</a:t>
            </a:r>
            <a:r>
              <a:rPr lang="it-I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énerver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me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t’es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t’es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s’est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s’est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énervée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ées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ê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ées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elles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énervés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SA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زِعِل</a:t>
            </a:r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أَنَا 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زْعِلْت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زْعِلْت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زْعِلْتِ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هُوَ زِعِلْ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هِيَ زِعْلِت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i="0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إِحْنَا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زْعِلْنَا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زْعِلْتُو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هُمَّا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زِعْلُو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6379779" y="1250303"/>
            <a:ext cx="0" cy="565339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46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0" r="20846" b="-1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429E605-E1DD-5AE0-FEB7-CF621FFE85C5}"/>
              </a:ext>
            </a:extLst>
          </p:cNvPr>
          <p:cNvSpPr/>
          <p:nvPr/>
        </p:nvSpPr>
        <p:spPr>
          <a:xfrm>
            <a:off x="760930" y="864509"/>
            <a:ext cx="11151476" cy="59646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هُوَ انْتِ زْعِلْتِ وَلَّا إِيه؟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Mais… tu t’es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quoi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algn="ctr" defTabSz="914400" rtl="1" eaLnBrk="1" latinLnBrk="0" hangingPunct="1"/>
            <a:endParaRPr lang="ar-S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مْبَارِحْ سَوْسَن خَرَجِت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مَعَايَ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السُّوق وْزِعْلِت مَعَ الْخَضَّار فَسَبِتْنِي لْوَحْدِي.</a:t>
            </a:r>
          </a:p>
          <a:p>
            <a:pPr marL="0" algn="ctr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Hier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allée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marché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avec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Susanne qui s’est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cause du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marchand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légumes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m’a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laissée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toute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seule.</a:t>
            </a:r>
          </a:p>
          <a:p>
            <a:pPr marL="0" algn="ctr" defTabSz="914400" rtl="1" eaLnBrk="1" latinLnBrk="0" hangingPunct="1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3- اِحْنَا زْعِلْنَا أَوِي عَلَى الِّلي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جَرَالْكُو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اِحْنَا حَقِيقِي أَسْفِين.</a:t>
            </a:r>
          </a:p>
          <a:p>
            <a:pPr marL="0" algn="ctr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qui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arrivé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nous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rendus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tristes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vraiment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désolés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S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endParaRPr lang="ar-S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هُمّاَ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زِعْلُو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وْخَرَجُو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مِنِ الْبِيت مِن غِير مَا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يْسَلِّمُو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عَلَى حَدّ.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se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énervés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saluer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personne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B3FFF888-C84D-B46F-BF70-FA3506BC1BCC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4502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BC72A86A-2127-44CD-3529-2D5FB1FF050D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Conjugaison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passé</a:t>
            </a:r>
            <a:r>
              <a:rPr lang="it-IT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composé</a:t>
            </a:r>
            <a:endParaRPr lang="it-IT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it-IT" dirty="0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87EA3697-84B2-4F5C-D4BC-AA3956A71501}"/>
              </a:ext>
            </a:extLst>
          </p:cNvPr>
          <p:cNvSpPr/>
          <p:nvPr/>
        </p:nvSpPr>
        <p:spPr>
          <a:xfrm>
            <a:off x="2670113" y="1250302"/>
            <a:ext cx="3815258" cy="51185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</a:t>
            </a:r>
            <a:r>
              <a:rPr lang="it-I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comprendre</a:t>
            </a:r>
            <a:r>
              <a:rPr lang="it-I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defTabSz="914400" rtl="1" eaLnBrk="1" latinLnBrk="0" hangingPunct="1"/>
            <a:endParaRPr lang="it-IT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avez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6487509" y="1250731"/>
            <a:ext cx="3465788" cy="5118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1"/>
            <a:r>
              <a:rPr lang="ar-SA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فِعْل</a:t>
            </a:r>
            <a:endParaRPr lang="it-IT" sz="2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فِهِم</a:t>
            </a:r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أَنَا 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فْهِمْت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إِنْتَ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فْهِمْت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إِنْتِ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فْهِمْتِ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هُوَ فِهِم</a:t>
            </a:r>
            <a:endParaRPr lang="it-I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هِيَ فِهْمِت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i="0" u="none" strike="noStrike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إِحْنَا 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فْهِمْنَا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إِنْتُو</a:t>
            </a:r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فْهِمْتُو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هُمَّا </a:t>
            </a:r>
            <a:r>
              <a:rPr lang="ar-SA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فِهْمُو</a:t>
            </a:r>
            <a:endParaRPr lang="it-I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4F3538BC-F825-791C-AE9A-BE97B105C020}"/>
              </a:ext>
            </a:extLst>
          </p:cNvPr>
          <p:cNvCxnSpPr>
            <a:cxnSpLocks/>
          </p:cNvCxnSpPr>
          <p:nvPr/>
        </p:nvCxnSpPr>
        <p:spPr>
          <a:xfrm>
            <a:off x="6379779" y="1250303"/>
            <a:ext cx="0" cy="511853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762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5">
                  <a:alpha val="35000"/>
                </a:schemeClr>
              </a:gs>
              <a:gs pos="100000">
                <a:schemeClr val="accent6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0" r="20846" b="-1"/>
          <a:stretch/>
        </p:blipFill>
        <p:spPr>
          <a:xfrm>
            <a:off x="-2140" y="478713"/>
            <a:ext cx="12194140" cy="6397106"/>
          </a:xfrm>
          <a:prstGeom prst="rect">
            <a:avLst/>
          </a:prstGeom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1429E605-E1DD-5AE0-FEB7-CF621FFE85C5}"/>
              </a:ext>
            </a:extLst>
          </p:cNvPr>
          <p:cNvSpPr/>
          <p:nvPr/>
        </p:nvSpPr>
        <p:spPr>
          <a:xfrm>
            <a:off x="760930" y="864509"/>
            <a:ext cx="11151476" cy="59646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اِبْنِ خَدِيجَة اللِّي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عَنْدُو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بَسِّ سَنَتِين مَا شَاءَ الَّله فِهِم كُلِّ كَلَامِي؟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L’enfant de Khadija qui a à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peine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ans 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tout ce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algn="ctr" defTabSz="914400" rtl="1" eaLnBrk="1" latinLnBrk="0" hangingPunct="1"/>
            <a:endParaRPr lang="ar-S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اِلطُّلَّاب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فِهْمُو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دَرْسِ الْقَوَاعِد بِسُرْعَة.</a:t>
            </a:r>
          </a:p>
          <a:p>
            <a:pPr marL="0" algn="ctr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vite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grammaire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marL="0" algn="ctr" defTabSz="914400" rtl="1" eaLnBrk="1" latinLnBrk="0" hangingPunct="1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3- </a:t>
            </a:r>
            <a:r>
              <a:rPr lang="ar-SA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فْهِمْتُو</a:t>
            </a:r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وَلَّا أَعِيد الشَّرْح ثَانِي؟</a:t>
            </a:r>
          </a:p>
          <a:p>
            <a:pPr marL="0" algn="ctr" defTabSz="914400" rtl="1" eaLnBrk="1" latinLnBrk="0" hangingPunct="1"/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avez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bien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j’explique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nouveau?</a:t>
            </a:r>
            <a:endParaRPr lang="ar-S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endParaRPr lang="ar-S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ar-SA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 إِحْنَا فْهِمْنَا كُلِّ حَاجَة، مُتَشَكَّرِين أَوِي.</a:t>
            </a:r>
            <a:endParaRPr lang="it-IT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ctr" defTabSz="914400" rtl="1" eaLnBrk="1" latinLnBrk="0" hangingPunct="1"/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avons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tout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merci </a:t>
            </a:r>
            <a:r>
              <a:rPr lang="it-I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beaucoup</a:t>
            </a:r>
            <a:r>
              <a:rPr lang="it-I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B3FFF888-C84D-B46F-BF70-FA3506BC1BCC}"/>
              </a:ext>
            </a:extLst>
          </p:cNvPr>
          <p:cNvSpPr/>
          <p:nvPr/>
        </p:nvSpPr>
        <p:spPr>
          <a:xfrm>
            <a:off x="1218130" y="45694"/>
            <a:ext cx="9753600" cy="818814"/>
          </a:xfrm>
          <a:prstGeom prst="cub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7536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A07ED838-EF7C-9161-5F88-8526ECC6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26" y="525970"/>
            <a:ext cx="2937753" cy="1600225"/>
          </a:xfrm>
        </p:spPr>
        <p:txBody>
          <a:bodyPr anchor="b">
            <a:normAutofit/>
          </a:bodyPr>
          <a:lstStyle/>
          <a:p>
            <a:pPr algn="r"/>
            <a:endParaRPr lang="it-IT" sz="1200">
              <a:solidFill>
                <a:schemeClr val="bg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DCF6FB-BC54-545A-5E43-BEBBA1DA0D41}"/>
              </a:ext>
            </a:extLst>
          </p:cNvPr>
          <p:cNvSpPr/>
          <p:nvPr/>
        </p:nvSpPr>
        <p:spPr>
          <a:xfrm>
            <a:off x="-2140" y="-543909"/>
            <a:ext cx="5171090" cy="53497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Picture 3" descr="Vista dall'alto di uno sfondo con spruzzi di colori">
            <a:extLst>
              <a:ext uri="{FF2B5EF4-FFF2-40B4-BE49-F238E27FC236}">
                <a16:creationId xmlns:a16="http://schemas.microsoft.com/office/drawing/2014/main" id="{4743D2B9-526C-5F10-A344-B231C36B8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10" r="20846" b="-1"/>
          <a:stretch/>
        </p:blipFill>
        <p:spPr>
          <a:xfrm>
            <a:off x="-2140" y="1802845"/>
            <a:ext cx="12194140" cy="6647471"/>
          </a:xfrm>
          <a:prstGeom prst="rect">
            <a:avLst/>
          </a:prstGeom>
        </p:spPr>
      </p:pic>
      <p:sp>
        <p:nvSpPr>
          <p:cNvPr id="21" name="Rettangolo 20">
            <a:extLst>
              <a:ext uri="{FF2B5EF4-FFF2-40B4-BE49-F238E27FC236}">
                <a16:creationId xmlns:a16="http://schemas.microsoft.com/office/drawing/2014/main" id="{DB30D080-BEAE-6EFB-6FD4-154BD936A390}"/>
              </a:ext>
            </a:extLst>
          </p:cNvPr>
          <p:cNvSpPr/>
          <p:nvPr/>
        </p:nvSpPr>
        <p:spPr>
          <a:xfrm>
            <a:off x="2259724" y="1135117"/>
            <a:ext cx="7620000" cy="730648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Conjuguez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suivants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defTabSz="914400" rtl="1" eaLnBrk="1" latinLnBrk="0" hangingPunct="1"/>
            <a:endParaRPr lang="it-IT" sz="28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سِمِع – لِعِب -  لِبِس</a:t>
            </a:r>
            <a:endParaRPr lang="it-IT" sz="2800" b="1" strike="noStrike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endParaRPr lang="it-IT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rtl="1" eaLnBrk="1" latinLnBrk="0" hangingPunct="1"/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Formez des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phrases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avec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defTabSz="914400" rtl="1" eaLnBrk="1" latinLnBrk="0" hangingPunct="1"/>
            <a:endParaRPr lang="it-IT" sz="2800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S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كِذِب - عِرِف</a:t>
            </a:r>
            <a:endParaRPr lang="it-IT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it-IT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Traduire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phrases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suivantes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it-IT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égyptien</a:t>
            </a:r>
            <a:r>
              <a:rPr lang="it-IT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rtl="1"/>
            <a:endParaRPr lang="it-IT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Rochdi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joué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rue.</a:t>
            </a:r>
          </a:p>
          <a:p>
            <a:pPr rtl="1"/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J’ai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entendu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une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voix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étrange</a:t>
            </a:r>
            <a:r>
              <a:rPr lang="it-IT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tout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compris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rtl="1"/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avez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it-IT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beaucoup</a:t>
            </a:r>
            <a:r>
              <a:rPr lang="it-IT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d’eau.</a:t>
            </a:r>
          </a:p>
        </p:txBody>
      </p:sp>
      <p:sp>
        <p:nvSpPr>
          <p:cNvPr id="2" name="Preparazione 1">
            <a:extLst>
              <a:ext uri="{FF2B5EF4-FFF2-40B4-BE49-F238E27FC236}">
                <a16:creationId xmlns:a16="http://schemas.microsoft.com/office/drawing/2014/main" id="{6B35F339-A105-05C7-F996-0BBE74590FAF}"/>
              </a:ext>
            </a:extLst>
          </p:cNvPr>
          <p:cNvSpPr/>
          <p:nvPr/>
        </p:nvSpPr>
        <p:spPr>
          <a:xfrm>
            <a:off x="2878764" y="21285"/>
            <a:ext cx="6432331" cy="914853"/>
          </a:xfrm>
          <a:prstGeom prst="flowChartPreparation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800" dirty="0">
                <a:latin typeface="Trattatello" panose="020F0403020200020303" pitchFamily="34" charset="0"/>
              </a:rPr>
              <a:t>Exercices</a:t>
            </a:r>
          </a:p>
        </p:txBody>
      </p:sp>
    </p:spTree>
    <p:extLst>
      <p:ext uri="{BB962C8B-B14F-4D97-AF65-F5344CB8AC3E}">
        <p14:creationId xmlns:p14="http://schemas.microsoft.com/office/powerpoint/2010/main" val="1456988872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RegularSeedRightStep">
      <a:dk1>
        <a:srgbClr val="000000"/>
      </a:dk1>
      <a:lt1>
        <a:srgbClr val="FFFFFF"/>
      </a:lt1>
      <a:dk2>
        <a:srgbClr val="223A3D"/>
      </a:dk2>
      <a:lt2>
        <a:srgbClr val="E2E8E8"/>
      </a:lt2>
      <a:accent1>
        <a:srgbClr val="E73429"/>
      </a:accent1>
      <a:accent2>
        <a:srgbClr val="D57117"/>
      </a:accent2>
      <a:accent3>
        <a:srgbClr val="B4A420"/>
      </a:accent3>
      <a:accent4>
        <a:srgbClr val="80B113"/>
      </a:accent4>
      <a:accent5>
        <a:srgbClr val="4AB821"/>
      </a:accent5>
      <a:accent6>
        <a:srgbClr val="14BC2C"/>
      </a:accent6>
      <a:hlink>
        <a:srgbClr val="329096"/>
      </a:hlink>
      <a:folHlink>
        <a:srgbClr val="7F7F7F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526</Words>
  <Application>Microsoft Macintosh PowerPoint</Application>
  <PresentationFormat>Widescreen</PresentationFormat>
  <Paragraphs>130</Paragraphs>
  <Slides>7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Calibri</vt:lpstr>
      <vt:lpstr>Gill Sans Nova</vt:lpstr>
      <vt:lpstr>Times New Roman</vt:lpstr>
      <vt:lpstr>Trattatello</vt:lpstr>
      <vt:lpstr>GradientRiseVTI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Leila Alami</dc:creator>
  <cp:lastModifiedBy>Leila Alami</cp:lastModifiedBy>
  <cp:revision>64</cp:revision>
  <dcterms:created xsi:type="dcterms:W3CDTF">2023-02-07T11:23:42Z</dcterms:created>
  <dcterms:modified xsi:type="dcterms:W3CDTF">2023-03-01T10:20:58Z</dcterms:modified>
</cp:coreProperties>
</file>