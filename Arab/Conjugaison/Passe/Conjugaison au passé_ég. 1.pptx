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Gill San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j77LEFPTdL45XyPvHNBWUzERCD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GillSans-bold.fntdata"/><Relationship Id="rId16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1524000" y="1033272"/>
            <a:ext cx="9144000" cy="24780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524000" y="3822192"/>
            <a:ext cx="9144000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1371600" y="1709738"/>
            <a:ext cx="996696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1371600" y="4974336"/>
            <a:ext cx="9966961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1371600" y="2112264"/>
            <a:ext cx="484632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6766560" y="2112265"/>
            <a:ext cx="4846320" cy="3959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1371600" y="2112264"/>
            <a:ext cx="484107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1371600" y="3018472"/>
            <a:ext cx="4841076" cy="3104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3" type="body"/>
          </p:nvPr>
        </p:nvSpPr>
        <p:spPr>
          <a:xfrm>
            <a:off x="6766560" y="2112264"/>
            <a:ext cx="48463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3"/>
          <p:cNvSpPr txBox="1"/>
          <p:nvPr>
            <p:ph idx="4" type="body"/>
          </p:nvPr>
        </p:nvSpPr>
        <p:spPr>
          <a:xfrm>
            <a:off x="6766560" y="3018471"/>
            <a:ext cx="4841076" cy="3104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0" name="Google Shape;50;p13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1371600" y="987425"/>
            <a:ext cx="3932237" cy="18945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5650992" y="987425"/>
            <a:ext cx="5687568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1371600" y="3058510"/>
            <a:ext cx="3932237" cy="2802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1371600" y="987552"/>
            <a:ext cx="3932237" cy="18928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5505319" y="987425"/>
            <a:ext cx="583324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1371600" y="3033286"/>
            <a:ext cx="3932237" cy="2835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4512564" y="-1028700"/>
            <a:ext cx="3959352" cy="1024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 rot="5400000">
            <a:off x="7614700" y="1949100"/>
            <a:ext cx="484930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 rot="5400000">
            <a:off x="2286218" y="-598082"/>
            <a:ext cx="4849300" cy="7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 flipH="1" rot="10800000">
            <a:off x="0" y="6401226"/>
            <a:ext cx="12192000" cy="456773"/>
          </a:xfrm>
          <a:prstGeom prst="rect">
            <a:avLst/>
          </a:prstGeom>
          <a:gradFill>
            <a:gsLst>
              <a:gs pos="0">
                <a:srgbClr val="80B113">
                  <a:alpha val="27843"/>
                </a:srgbClr>
              </a:gs>
              <a:gs pos="14000">
                <a:srgbClr val="80B113">
                  <a:alpha val="27843"/>
                </a:srgbClr>
              </a:gs>
              <a:gs pos="100000">
                <a:srgbClr val="4AB821">
                  <a:alpha val="84705"/>
                </a:srgbClr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8"/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0">
                <a:srgbClr val="EFA868">
                  <a:alpha val="54901"/>
                </a:srgbClr>
              </a:gs>
              <a:gs pos="9000">
                <a:srgbClr val="EFA868">
                  <a:alpha val="54901"/>
                </a:srgbClr>
              </a:gs>
              <a:gs pos="99000">
                <a:schemeClr val="accent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8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b="1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" name="Google Shape;91;p1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" name="Google Shape;92;p1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1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passé composé</a:t>
            </a:r>
            <a:endParaRPr b="1" i="0" sz="4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97" name="Google Shape;97;p1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faire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j’ai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(m) 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as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a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a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avons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avez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ont fait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عَمَل</a:t>
            </a:r>
            <a:endParaRPr b="1" i="0" sz="2800" u="sng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عَمَلْت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عَمَلْت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عَمَلْتِ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عَمَل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عَمَلِت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عَمَلْنَا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عَمَلْتُو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عَمَلُو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2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2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12" name="Google Shape;112;p2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760930" y="1166648"/>
            <a:ext cx="11151476" cy="5662474"/>
          </a:xfrm>
          <a:prstGeom prst="roundRect">
            <a:avLst>
              <a:gd fmla="val 16667" name="adj"/>
            </a:avLst>
          </a:prstGeom>
          <a:solidFill>
            <a:srgbClr val="F5ACA7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إِنْتُو عَمَلْتُو إِيه؟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Qu’est-ce que vous avez fait?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جِدِّتِي عَمَلِت حَاجَات كِثِيرة أَوِي فِحَيَاتْهَا.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Grand-mère ha fait beaucoup de choses dans sa vie.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أَيْمَن، عَمَلْتِ اللِّي طَلَبْتُو مِنَّك؟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Ayman, est-ce que tu as fait ce que je t’ai demandé?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اِلْأُسْتَاذ عَمَل حَاجَة كْوَيِّسَة جِدًّا: شَرَحِ الدَّرْس مَرِّتِين.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professeur a fait une très bonne chose, il a expliqué 2 fois la leçon. 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B71D14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3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1" name="Google Shape;121;p3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" name="Google Shape;122;p3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3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passé</a:t>
            </a:r>
            <a:endParaRPr b="1" i="0" sz="4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26" name="Google Shape;126;p3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sortir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suis sorti/e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es sorti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es sortie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est sorti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est sortie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sommes sortis/ies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êtes sortis/ies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sont sortis (</a:t>
            </a:r>
            <a:r>
              <a:rPr b="0" i="0" lang="it-IT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elles sont sorties)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خَرَج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 خَرَجْت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خَرَجْت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خَرَجْتِ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خَرَج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خَرَجِت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خَرَجْنَا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خَرَجْتُو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خَرَجُو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" name="Google Shape;129;p3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4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4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4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4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41" name="Google Shape;141;p4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760930" y="1008993"/>
            <a:ext cx="11151476" cy="5820129"/>
          </a:xfrm>
          <a:prstGeom prst="roundRect">
            <a:avLst>
              <a:gd fmla="val 16667" name="adj"/>
            </a:avLst>
          </a:prstGeom>
          <a:solidFill>
            <a:srgbClr val="F5ACA7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أَنَا شُفْتِ مَرْيَم لَمَّا خَرَجِت مِنِ الْبِيت، كَانِتِ السَّاعَة ثَمَانْيَة الصُّبْح.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J’ai vu Meriem quand elle est sortie de la maison, à huit heures du matin.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رُشْدِي خَرَج مَعَ سِلِيم بَعْدِ مَا عَمَلُو كُلِّ حَاجَة.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Rochdi est sorti avec Salim après avoir tout fait.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وِالطُّلَّاب خَرَجُو إِمْتَى؟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les étudiants, à quelle heure ils sont sortis?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هُوَ إِنْتُو خَرَجْتُو وَرَاهُم عَلى طُول؟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Est-ce que vous êtes sortis tout juste après eux?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B71D14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5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5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passé composé</a:t>
            </a:r>
            <a:endParaRPr b="1" i="0" sz="4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55" name="Google Shape;155;p5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écrire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j’ai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as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a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a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avons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avez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ont écrit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كَتَب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 كَتَبْت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كَتَبْت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كَتَبْتِ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كَتَبْ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كَتَبِت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كَتَبْنَا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كَتَبْتُو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كَتَبُو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6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6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6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70" name="Google Shape;170;p6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760930" y="1008993"/>
            <a:ext cx="11151476" cy="5820129"/>
          </a:xfrm>
          <a:prstGeom prst="roundRect">
            <a:avLst>
              <a:gd fmla="val 16667" name="adj"/>
            </a:avLst>
          </a:prstGeom>
          <a:solidFill>
            <a:srgbClr val="F5ACA7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هُوَ فَرْحَان عَشَان كَتَبِ الدَّرْس كُلُّو لِوَحْدُو.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est content parce qu’il a écrit toute la leçon tout seul.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نَادْيَة حَسِّت بِالرَّاحَة بَعْدِ مَا كَتَبِت رِسَالَة لِخَطِيبْهَا وِحَكَتْ لُو عَنْ كُلِّ شِيء.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Nadia s’est calmée après avoir écrit une lettre à son fiancé dans laquelle elle lui a tout raconté.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دُول كَتَبُو الدُّرُوس كُلَّهَا بْسُرْعَة عَشَان يِخْرُجُو يِلْعَبُو فِالشَّارِع.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ont vite écrit toutes les leçons pour pouvoir (sortir) jouer dans la rue. 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اِلشَّاعِر دَا كَتَب قَصِيدَة رَائِعَة، فْظَرْف (فْزَرْف) وَجِيز.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 poète a écrit un mérveilleux poème dans un temps record.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B71D14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79" name="Google Shape;179;p7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2259724" y="1135117"/>
            <a:ext cx="7620000" cy="7306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Conjuguez les verbes suivants: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دَخَل – أَكَل – فَتَح 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fatah </a:t>
            </a:r>
            <a:r>
              <a:rPr lang="it-IT" sz="11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- 'akal - </a:t>
            </a:r>
            <a:r>
              <a:rPr lang="it-IT" sz="11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dakhal</a:t>
            </a:r>
            <a:br>
              <a:rPr lang="it-IT" sz="11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it-IT" sz="11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opened - ate - entered </a:t>
            </a:r>
            <a:endParaRPr sz="1150">
              <a:solidFill>
                <a:srgbClr val="5F636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F636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Formez des phrases avec ces verbes: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طَلَب – لَمَس – دَرَس - عَرَف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talab - lamas - daras - earaf</a:t>
            </a:r>
            <a:endParaRPr sz="1150">
              <a:solidFill>
                <a:srgbClr val="5F636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asked - touched - studied - knew</a:t>
            </a:r>
            <a:endParaRPr sz="1150">
              <a:solidFill>
                <a:srgbClr val="5F636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Traduire les phrases suivantes en égyptien: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suis sortie le matin.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avons mangé 2 pommes.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avez ouvert toutes les portes.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lui demandé sa voiture ou pas encore?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2878764" y="21285"/>
            <a:ext cx="6432331" cy="914853"/>
          </a:xfrm>
          <a:prstGeom prst="flowChartPreparation">
            <a:avLst/>
          </a:prstGeom>
          <a:solidFill>
            <a:srgbClr val="0070C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Exercices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ientRiseVTI">
  <a:themeElements>
    <a:clrScheme name="AnalogousFromRegularSeedRightStep">
      <a:dk1>
        <a:srgbClr val="000000"/>
      </a:dk1>
      <a:lt1>
        <a:srgbClr val="FFFFFF"/>
      </a:lt1>
      <a:dk2>
        <a:srgbClr val="223A3D"/>
      </a:dk2>
      <a:lt2>
        <a:srgbClr val="E2E8E8"/>
      </a:lt2>
      <a:accent1>
        <a:srgbClr val="E73429"/>
      </a:accent1>
      <a:accent2>
        <a:srgbClr val="D57117"/>
      </a:accent2>
      <a:accent3>
        <a:srgbClr val="B4A420"/>
      </a:accent3>
      <a:accent4>
        <a:srgbClr val="80B113"/>
      </a:accent4>
      <a:accent5>
        <a:srgbClr val="4AB821"/>
      </a:accent5>
      <a:accent6>
        <a:srgbClr val="14BC2C"/>
      </a:accent6>
      <a:hlink>
        <a:srgbClr val="32909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2023-02-07T11:23:42Z</dcterms:created>
  <dc:creator>Leila Alami</dc:creator>
</cp:coreProperties>
</file>