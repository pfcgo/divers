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Gill Sans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4" roundtripDataSignature="AMtx7mhJdc3p6xZizDjQh0+ZTWncoyr7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GillSans-bold.fntdata"/><Relationship Id="rId12" Type="http://schemas.openxmlformats.org/officeDocument/2006/relationships/font" Target="fonts/Gill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Si Sukkun, parfois remplacer pour faciliter a prononciation (par un court i)</a:t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بِتْرْغُو = bavarder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عِيد= fete (comme pour apres le ramadan)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 la fete que l'on organise = حَفْلِةْ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حَفْلِةْ عِيد الْمِيلَاد = fete de la fete de la naissance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مِنِّك = de/a toi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هُوَ pour just indiquer une question/enotonnement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الْمَسْكِينَة = la pauvre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أُسْبُوع = semaine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مَرِيضَة = malade = عَيَّانَة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تَعْبَانَة = fatigué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بِتِكْذِبُو = vous mentez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كِذِب = mentir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رِسَالَة = lettre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كُرَّاسَة = cahier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نَقْصَانِي - me manque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لَمَّا = quand (mais pas dans une question) /= imta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حِصِّة = cours/lecon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مُسَاعْدِتَك = ton aide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/>
              <a:t>أنا ما طَلَبْتِش مُسَاعْدَة مِن حَدّ = je n'ai </a:t>
            </a:r>
            <a:r>
              <a:rPr b="1" lang="it-IT"/>
              <a:t>demandé</a:t>
            </a:r>
            <a:r>
              <a:rPr b="1" lang="it-IT"/>
              <a:t> l'aide de personne</a:t>
            </a:r>
            <a:endParaRPr b="1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/>
              <a:t>اِحْنَا مَا فْهِمْنَاش إِنْت طَلَبْتِ إِيه // اِحْنَا مَا فْهِمْنَاش إنت عايِز إِيه</a:t>
            </a:r>
            <a:endParaRPr b="1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/>
              <a:t>إِنْتُو مَا دَرَسْتُوش عَرَبِي فِالْمَدْرَسَة/ فِالْجَامْعَة  </a:t>
            </a:r>
            <a:endParaRPr b="1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/>
              <a:t>سَارَة مَا عَرَفِتْش أُمِّك راحِت فِين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/>
              <a:t>traduction</a:t>
            </a:r>
            <a:endParaRPr b="1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/>
              <a:t>لِيه مَا كَتَبْتِش اللِّي طَلَبْتُه مِنِّك </a:t>
            </a:r>
            <a:endParaRPr b="1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ctrTitle"/>
          </p:nvPr>
        </p:nvSpPr>
        <p:spPr>
          <a:xfrm>
            <a:off x="1524000" y="1033272"/>
            <a:ext cx="9144000" cy="247802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subTitle"/>
          </p:nvPr>
        </p:nvSpPr>
        <p:spPr>
          <a:xfrm>
            <a:off x="1524000" y="3822192"/>
            <a:ext cx="9144000" cy="1435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1371600" y="1709738"/>
            <a:ext cx="996696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1371600" y="4974336"/>
            <a:ext cx="9966961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1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" type="body"/>
          </p:nvPr>
        </p:nvSpPr>
        <p:spPr>
          <a:xfrm>
            <a:off x="1371600" y="2112264"/>
            <a:ext cx="4846320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2" type="body"/>
          </p:nvPr>
        </p:nvSpPr>
        <p:spPr>
          <a:xfrm>
            <a:off x="6766560" y="2112265"/>
            <a:ext cx="4846320" cy="3959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1371600" y="2112264"/>
            <a:ext cx="4841076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3"/>
          <p:cNvSpPr txBox="1"/>
          <p:nvPr>
            <p:ph idx="2" type="body"/>
          </p:nvPr>
        </p:nvSpPr>
        <p:spPr>
          <a:xfrm>
            <a:off x="1371600" y="3018472"/>
            <a:ext cx="4841076" cy="3104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3" type="body"/>
          </p:nvPr>
        </p:nvSpPr>
        <p:spPr>
          <a:xfrm>
            <a:off x="6766560" y="2112264"/>
            <a:ext cx="48463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3"/>
          <p:cNvSpPr txBox="1"/>
          <p:nvPr>
            <p:ph idx="4" type="body"/>
          </p:nvPr>
        </p:nvSpPr>
        <p:spPr>
          <a:xfrm>
            <a:off x="6766560" y="3018471"/>
            <a:ext cx="4841076" cy="3104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0" name="Google Shape;50;p13"/>
          <p:cNvSpPr txBox="1"/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1371600" y="987425"/>
            <a:ext cx="3932237" cy="18945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5650992" y="987425"/>
            <a:ext cx="5687568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6"/>
          <p:cNvSpPr txBox="1"/>
          <p:nvPr>
            <p:ph idx="2" type="body"/>
          </p:nvPr>
        </p:nvSpPr>
        <p:spPr>
          <a:xfrm>
            <a:off x="1371600" y="3058510"/>
            <a:ext cx="3932237" cy="2802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6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1371600" y="987552"/>
            <a:ext cx="3932237" cy="18928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5505319" y="987425"/>
            <a:ext cx="583324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1371600" y="3033286"/>
            <a:ext cx="3932237" cy="2835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4512564" y="-1028700"/>
            <a:ext cx="3959352" cy="1024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 rot="5400000">
            <a:off x="7614700" y="1949100"/>
            <a:ext cx="484930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 rot="5400000">
            <a:off x="2286218" y="-598082"/>
            <a:ext cx="4849300" cy="7723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 flipH="1" rot="10800000">
            <a:off x="0" y="6401226"/>
            <a:ext cx="12192000" cy="456773"/>
          </a:xfrm>
          <a:prstGeom prst="rect">
            <a:avLst/>
          </a:prstGeom>
          <a:gradFill>
            <a:gsLst>
              <a:gs pos="0">
                <a:srgbClr val="80B113">
                  <a:alpha val="27843"/>
                </a:srgbClr>
              </a:gs>
              <a:gs pos="14000">
                <a:srgbClr val="80B113">
                  <a:alpha val="27843"/>
                </a:srgbClr>
              </a:gs>
              <a:gs pos="100000">
                <a:srgbClr val="4AB821">
                  <a:alpha val="84705"/>
                </a:srgbClr>
              </a:gs>
            </a:gsLst>
            <a:lin ang="6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" name="Google Shape;11;p8"/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0">
                <a:srgbClr val="EFA868">
                  <a:alpha val="54901"/>
                </a:srgbClr>
              </a:gs>
              <a:gs pos="9000">
                <a:srgbClr val="EFA868">
                  <a:alpha val="54901"/>
                </a:srgbClr>
              </a:gs>
              <a:gs pos="99000">
                <a:schemeClr val="accent2"/>
              </a:gs>
              <a:gs pos="100000">
                <a:schemeClr val="accent2"/>
              </a:gs>
            </a:gsLst>
            <a:lin ang="14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" name="Google Shape;12;p8"/>
          <p:cNvSpPr txBox="1"/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b="1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8"/>
          <p:cNvSpPr txBox="1"/>
          <p:nvPr>
            <p:ph idx="1" type="body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1" name="Google Shape;91;p1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chemeClr val="accent2"/>
              </a:gs>
              <a:gs pos="11000">
                <a:schemeClr val="accent2"/>
              </a:gs>
              <a:gs pos="100000">
                <a:srgbClr val="0E8D20">
                  <a:alpha val="8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2" name="Google Shape;92;p1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AB821">
                  <a:alpha val="34901"/>
                </a:srgbClr>
              </a:gs>
              <a:gs pos="100000">
                <a:srgbClr val="14BC2C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3" name="Google Shape;93;p1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E9F9C4">
                  <a:alpha val="0"/>
                </a:srgbClr>
              </a:gs>
              <a:gs pos="39000">
                <a:srgbClr val="E9F9C4">
                  <a:alpha val="0"/>
                </a:srgbClr>
              </a:gs>
              <a:gs pos="100000">
                <a:srgbClr val="14BC2C">
                  <a:alpha val="28627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378372" y="45694"/>
            <a:ext cx="11456276" cy="818814"/>
          </a:xfrm>
          <a:prstGeom prst="cube">
            <a:avLst>
              <a:gd fmla="val 25000" name="adj"/>
            </a:avLst>
          </a:prstGeom>
          <a:solidFill>
            <a:srgbClr val="FFC000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3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Conjugaison au passé composé à la forme négative</a:t>
            </a:r>
            <a:endParaRPr b="1" i="0" sz="36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97" name="Google Shape;97;p1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"/>
          <p:cNvSpPr/>
          <p:nvPr/>
        </p:nvSpPr>
        <p:spPr>
          <a:xfrm>
            <a:off x="2670113" y="1250302"/>
            <a:ext cx="3815258" cy="5128986"/>
          </a:xfrm>
          <a:prstGeom prst="rect">
            <a:avLst/>
          </a:prstGeom>
          <a:solidFill>
            <a:srgbClr val="378A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Verbe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faire 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 n’ai pas fait…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n’as pas fait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n’as pas fait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n’a pas fait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elle n’a pas fait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nous Je n’avons pas fait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vous n’avez fait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ils n’ont pas fait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378A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فِعْل</a:t>
            </a:r>
            <a:endParaRPr b="1" i="1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عَمَل</a:t>
            </a:r>
            <a:endParaRPr b="1" i="0" sz="2800" u="sng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أَنَا مَاعَمَلْتِش</a:t>
            </a:r>
            <a:endParaRPr b="0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إِنْتَ مَاعَمَلْتِش</a:t>
            </a:r>
            <a:endParaRPr b="0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إِنْتِ مَاعَمَلْتِيش</a:t>
            </a:r>
            <a:endParaRPr b="0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هُوَ مَاعَمَلْش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هِيَ مَاعَمَلِتْش</a:t>
            </a:r>
            <a:endParaRPr b="0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إِحْنَا مَاعَمَلْنَاش</a:t>
            </a:r>
            <a:endParaRPr b="0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إِنْتُو مَاعَمَلْتُوش</a:t>
            </a:r>
            <a:endParaRPr b="0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هُمَّا مَاعَمَلُوش</a:t>
            </a:r>
            <a:endParaRPr b="0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0" name="Google Shape;100;p1"/>
          <p:cNvCxnSpPr/>
          <p:nvPr/>
        </p:nvCxnSpPr>
        <p:spPr>
          <a:xfrm>
            <a:off x="6379779" y="1250303"/>
            <a:ext cx="0" cy="565339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2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chemeClr val="accent2"/>
              </a:gs>
              <a:gs pos="11000">
                <a:schemeClr val="accent2"/>
              </a:gs>
              <a:gs pos="100000">
                <a:srgbClr val="0E8D20">
                  <a:alpha val="8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8" name="Google Shape;108;p2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AB821">
                  <a:alpha val="34901"/>
                </a:srgbClr>
              </a:gs>
              <a:gs pos="100000">
                <a:srgbClr val="14BC2C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2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E9F9C4">
                  <a:alpha val="0"/>
                </a:srgbClr>
              </a:gs>
              <a:gs pos="39000">
                <a:srgbClr val="E9F9C4">
                  <a:alpha val="0"/>
                </a:srgbClr>
              </a:gs>
              <a:gs pos="100000">
                <a:srgbClr val="14BC2C">
                  <a:alpha val="28627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2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112" name="Google Shape;112;p2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478713"/>
            <a:ext cx="12194140" cy="639710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/>
          <p:nvPr/>
        </p:nvSpPr>
        <p:spPr>
          <a:xfrm>
            <a:off x="760930" y="1166648"/>
            <a:ext cx="11151476" cy="5662474"/>
          </a:xfrm>
          <a:prstGeom prst="roundRect">
            <a:avLst>
              <a:gd fmla="val 16667" name="adj"/>
            </a:avLst>
          </a:prstGeom>
          <a:solidFill>
            <a:srgbClr val="7AAFB3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إِنْتُو مَا عَمَلْتُوش حَاجَة وْبِتْرْغُو كْتِير.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Vous n’avez rien fait et vous continuez à bavarder.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خَالْتِي  مَا عَمَلِتْش الطُّورْطَة فِالْعِيد.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 tante (m) n’a pas préparé la tarte pour la fete.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3- هِنْد، لِيه مَا عَمَلْتِيشِ اللِّي طَلَبْتُو مِنِّك؟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Hind, pourquoi tu n’as pas fait ce que je t’ai demandé?</a:t>
            </a:r>
            <a:endParaRPr b="0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 اِلنَّهَار دَا صْحَابِي مَا عَمَلُوش حَاجَة، دُول بَسِّ نَامُو.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Aujourd’hui, mes amis n’ont rien fait, ils ont dormi.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1218130" y="45694"/>
            <a:ext cx="9753600" cy="818814"/>
          </a:xfrm>
          <a:prstGeom prst="cube">
            <a:avLst>
              <a:gd fmla="val 25000" name="adj"/>
            </a:avLst>
          </a:prstGeom>
          <a:solidFill>
            <a:srgbClr val="B71D14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0" name="Google Shape;120;p3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chemeClr val="accent2"/>
              </a:gs>
              <a:gs pos="11000">
                <a:schemeClr val="accent2"/>
              </a:gs>
              <a:gs pos="100000">
                <a:srgbClr val="0E8D20">
                  <a:alpha val="8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1" name="Google Shape;121;p3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AB821">
                  <a:alpha val="34901"/>
                </a:srgbClr>
              </a:gs>
              <a:gs pos="100000">
                <a:srgbClr val="14BC2C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2" name="Google Shape;122;p3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E9F9C4">
                  <a:alpha val="0"/>
                </a:srgbClr>
              </a:gs>
              <a:gs pos="39000">
                <a:srgbClr val="E9F9C4">
                  <a:alpha val="0"/>
                </a:srgbClr>
              </a:gs>
              <a:gs pos="100000">
                <a:srgbClr val="14BC2C">
                  <a:alpha val="28627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3" name="Google Shape;123;p3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1218130" y="45694"/>
            <a:ext cx="9753600" cy="818814"/>
          </a:xfrm>
          <a:prstGeom prst="cube">
            <a:avLst>
              <a:gd fmla="val 25000" name="adj"/>
            </a:avLst>
          </a:prstGeom>
          <a:solidFill>
            <a:srgbClr val="FFC000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Conjugaison au passé</a:t>
            </a:r>
            <a:endParaRPr b="1" i="0" sz="40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126" name="Google Shape;126;p3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/>
          <p:nvPr/>
        </p:nvSpPr>
        <p:spPr>
          <a:xfrm>
            <a:off x="1093077" y="1250302"/>
            <a:ext cx="5392294" cy="5118539"/>
          </a:xfrm>
          <a:prstGeom prst="rect">
            <a:avLst/>
          </a:prstGeom>
          <a:solidFill>
            <a:srgbClr val="378A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Verbe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sortir 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 ne suis pas sorti/e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n’es pas sorti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n’es passortie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n’est passorti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elle n’est pas sortie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nous ne sommes pas sortis/ies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vous n’êtes pas sortis/ies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ils ne sont pas sortis (</a:t>
            </a:r>
            <a:r>
              <a:rPr b="0" i="0" lang="it-IT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elles sont sorties)</a:t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378A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فِعْل</a:t>
            </a:r>
            <a:endParaRPr b="1" i="1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خَرَج</a:t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أَنَا  مَا خَرَجْتِش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إِنْتَ مَا خَرَجْتِش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إِنْتِ مَا خَرَجْتِيش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هُوَ مَا خَرَجْش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هِيَ مَا خَرَجِتْش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إِحْنَا مَا خَرَجْنَاش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إِنْتُو مَا خَرَجْتُوش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هُمَّا مَا خَرَجُوش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9" name="Google Shape;129;p3"/>
          <p:cNvCxnSpPr/>
          <p:nvPr/>
        </p:nvCxnSpPr>
        <p:spPr>
          <a:xfrm>
            <a:off x="6379779" y="1250303"/>
            <a:ext cx="0" cy="565339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6" name="Google Shape;136;p4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chemeClr val="accent2"/>
              </a:gs>
              <a:gs pos="11000">
                <a:schemeClr val="accent2"/>
              </a:gs>
              <a:gs pos="100000">
                <a:srgbClr val="0E8D20">
                  <a:alpha val="8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7" name="Google Shape;137;p4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AB821">
                  <a:alpha val="34901"/>
                </a:srgbClr>
              </a:gs>
              <a:gs pos="100000">
                <a:srgbClr val="14BC2C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8" name="Google Shape;138;p4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E9F9C4">
                  <a:alpha val="0"/>
                </a:srgbClr>
              </a:gs>
              <a:gs pos="39000">
                <a:srgbClr val="E9F9C4">
                  <a:alpha val="0"/>
                </a:srgbClr>
              </a:gs>
              <a:gs pos="100000">
                <a:srgbClr val="14BC2C">
                  <a:alpha val="28627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9" name="Google Shape;139;p4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141" name="Google Shape;141;p4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478713"/>
            <a:ext cx="12194140" cy="6397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/>
          <p:nvPr/>
        </p:nvSpPr>
        <p:spPr>
          <a:xfrm>
            <a:off x="760930" y="1008993"/>
            <a:ext cx="11151476" cy="5820129"/>
          </a:xfrm>
          <a:prstGeom prst="roundRect">
            <a:avLst>
              <a:gd fmla="val 16667" name="adj"/>
            </a:avLst>
          </a:prstGeom>
          <a:solidFill>
            <a:srgbClr val="7AAFB3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هُوَ انْتِ مَا خَرَجْتِيش مْبَارِح؟.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Mais pourqoi tu n’es pas sortie hier?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أَنَّا مَا خَرَجِتْش مِن الْبِيت مِنْ أُسْبُوع عَشَان الْمَسْكِينَة مَرِيضَة.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Anna n’est pas sortie de la maison depuis une semaine parcequ’elle malade la pauvre.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3- هُمَّا مَا خَرَجُوش، إِنْتُو اللِّي خَرَجْتُو وبِتِكْذِبُو.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Ils ne sont pas sortis, c’est vous qui etes sortis et vous mentez.</a:t>
            </a:r>
            <a:endParaRPr b="0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 اِحْنَا مَا خَرَجْنَاش مِن الْقَصْر مِن يُومِين.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Ça fait deux jours que nous sortons pas du (grand villa)chateau .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1218130" y="45694"/>
            <a:ext cx="9753600" cy="818814"/>
          </a:xfrm>
          <a:prstGeom prst="cube">
            <a:avLst>
              <a:gd fmla="val 25000" name="adj"/>
            </a:avLst>
          </a:prstGeom>
          <a:solidFill>
            <a:srgbClr val="B71D14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9" name="Google Shape;149;p5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chemeClr val="accent2"/>
              </a:gs>
              <a:gs pos="11000">
                <a:schemeClr val="accent2"/>
              </a:gs>
              <a:gs pos="100000">
                <a:srgbClr val="0E8D20">
                  <a:alpha val="8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0" name="Google Shape;150;p5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AB821">
                  <a:alpha val="34901"/>
                </a:srgbClr>
              </a:gs>
              <a:gs pos="100000">
                <a:srgbClr val="14BC2C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1" name="Google Shape;151;p5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E9F9C4">
                  <a:alpha val="0"/>
                </a:srgbClr>
              </a:gs>
              <a:gs pos="39000">
                <a:srgbClr val="E9F9C4">
                  <a:alpha val="0"/>
                </a:srgbClr>
              </a:gs>
              <a:gs pos="100000">
                <a:srgbClr val="14BC2C">
                  <a:alpha val="28627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2" name="Google Shape;152;p5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218130" y="45694"/>
            <a:ext cx="9753600" cy="818814"/>
          </a:xfrm>
          <a:prstGeom prst="cube">
            <a:avLst>
              <a:gd fmla="val 25000" name="adj"/>
            </a:avLst>
          </a:prstGeom>
          <a:solidFill>
            <a:srgbClr val="FFC000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Conjugaison au passé composé</a:t>
            </a:r>
            <a:endParaRPr b="1" i="0" sz="40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155" name="Google Shape;155;p5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5"/>
          <p:cNvSpPr/>
          <p:nvPr/>
        </p:nvSpPr>
        <p:spPr>
          <a:xfrm>
            <a:off x="2670113" y="1250302"/>
            <a:ext cx="3815258" cy="5118539"/>
          </a:xfrm>
          <a:prstGeom prst="rect">
            <a:avLst/>
          </a:prstGeom>
          <a:solidFill>
            <a:srgbClr val="378A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Verbe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 écrire 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 n’ai pas écrit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n’as pas écrit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n’as pas écrit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n’a pas écrit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elle n’a pas écrit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nous Je n’avons pas écrit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vous n’avez écrit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ils n’ont pas écrit</a:t>
            </a:r>
            <a:endParaRPr b="0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378A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فِعْل</a:t>
            </a:r>
            <a:endParaRPr b="1" i="1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 كَتَب</a:t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أَنَا  مَا كَتَبْتِش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إِنْتَ مَا كَتَبْتِش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إِنْتِ مَا كَتَبْتِيش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هُوَ مَا كَتَبْش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هِيَ مَا كَتَبِتْش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إِحْنَا مَا كَتَبْنَاش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إِنْتُو مَا كَتَبْتُوش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هُمَّا مَا كَتَبُوش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8" name="Google Shape;158;p5"/>
          <p:cNvCxnSpPr/>
          <p:nvPr/>
        </p:nvCxnSpPr>
        <p:spPr>
          <a:xfrm>
            <a:off x="6379779" y="1250303"/>
            <a:ext cx="0" cy="565339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5" name="Google Shape;165;p6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chemeClr val="accent2"/>
              </a:gs>
              <a:gs pos="11000">
                <a:schemeClr val="accent2"/>
              </a:gs>
              <a:gs pos="100000">
                <a:srgbClr val="0E8D20">
                  <a:alpha val="8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6" name="Google Shape;166;p6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AB821">
                  <a:alpha val="34901"/>
                </a:srgbClr>
              </a:gs>
              <a:gs pos="100000">
                <a:srgbClr val="14BC2C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7" name="Google Shape;167;p6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E9F9C4">
                  <a:alpha val="0"/>
                </a:srgbClr>
              </a:gs>
              <a:gs pos="39000">
                <a:srgbClr val="E9F9C4">
                  <a:alpha val="0"/>
                </a:srgbClr>
              </a:gs>
              <a:gs pos="100000">
                <a:srgbClr val="14BC2C">
                  <a:alpha val="28627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8" name="Google Shape;168;p6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170" name="Google Shape;170;p6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478713"/>
            <a:ext cx="12194140" cy="639710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/>
          <p:nvPr/>
        </p:nvSpPr>
        <p:spPr>
          <a:xfrm>
            <a:off x="760930" y="1008993"/>
            <a:ext cx="11151476" cy="5820129"/>
          </a:xfrm>
          <a:prstGeom prst="roundRect">
            <a:avLst>
              <a:gd fmla="val 16667" name="adj"/>
            </a:avLst>
          </a:prstGeom>
          <a:solidFill>
            <a:srgbClr val="7AAFB3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مِن يُوم (que=min)مَا يَارَا وِصْلِت مَا كَتَبِتْش أَيِّ رِسَالَة لُمَّهَا (لْأُمَّهَا).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Depuis que Yara est arrivée elle n’a pas encore écrit à sa mère.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أَيْمَن وِمُعَاذ مَا كَتَبُوش أَيِّ شِيء فِي الْكُرَّاسَات بْتَاعِتْهُم.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Ayman et Mouad n’ont rien écrit dans leurs cahiers d’exercices.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3- مُمْكِن أَعْرَف لِيه مَا كَتَبْتُوشِ الدَّرْس؟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 peux savoir pourquoi vous n’avez pas écrit la leçon?</a:t>
            </a:r>
            <a:endParaRPr b="0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 أَنَا حَكْتُب كُلِّ حَاجة نَقْصَانِي عَاشَان لَمَّا كُنْتِ فِي حِصِّة الْعَرَبِيَّة مَا كَتَبْتِش حَاجَة.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 vais écrire tout ce qui me manque car lorsque j’étais au cours d’arabe je n’ai rien écrit.</a:t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1218130" y="45694"/>
            <a:ext cx="9753600" cy="818814"/>
          </a:xfrm>
          <a:prstGeom prst="cube">
            <a:avLst>
              <a:gd fmla="val 25000" name="adj"/>
            </a:avLst>
          </a:prstGeom>
          <a:solidFill>
            <a:srgbClr val="B71D14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179" name="Google Shape;179;p7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/>
          <p:nvPr/>
        </p:nvSpPr>
        <p:spPr>
          <a:xfrm>
            <a:off x="1696349" y="1078561"/>
            <a:ext cx="8797159" cy="73064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Conjuguez à la forme negative les verbes suivants: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دَخَل – أَكَل – فَتَح 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Formez des phrases avec ces verbes: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مَا طَلَبْش – مَا فْهِمْش – مَا دَرَسْش – مَا عَرَفش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Traduire les phrases suivantes en égyptien: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Pourquoi tu n’as pas écrit ce que je t’ai demandé?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Nous ne sommes pas sorties hier.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n’a pas étudié en France.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Elle a juste dormi, elle n’a rien fait.</a:t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2878764" y="21285"/>
            <a:ext cx="6432331" cy="914853"/>
          </a:xfrm>
          <a:prstGeom prst="flowChartPreparation">
            <a:avLst/>
          </a:prstGeom>
          <a:solidFill>
            <a:srgbClr val="0070C0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Exercices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radientRiseVTI">
  <a:themeElements>
    <a:clrScheme name="AnalogousFromRegularSeedRightStep">
      <a:dk1>
        <a:srgbClr val="000000"/>
      </a:dk1>
      <a:lt1>
        <a:srgbClr val="FFFFFF"/>
      </a:lt1>
      <a:dk2>
        <a:srgbClr val="223A3D"/>
      </a:dk2>
      <a:lt2>
        <a:srgbClr val="E2E8E8"/>
      </a:lt2>
      <a:accent1>
        <a:srgbClr val="E73429"/>
      </a:accent1>
      <a:accent2>
        <a:srgbClr val="D57117"/>
      </a:accent2>
      <a:accent3>
        <a:srgbClr val="B4A420"/>
      </a:accent3>
      <a:accent4>
        <a:srgbClr val="80B113"/>
      </a:accent4>
      <a:accent5>
        <a:srgbClr val="4AB821"/>
      </a:accent5>
      <a:accent6>
        <a:srgbClr val="14BC2C"/>
      </a:accent6>
      <a:hlink>
        <a:srgbClr val="329096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2023-02-07T11:23:42Z</dcterms:created>
  <dc:creator>Leila Alami</dc:creator>
</cp:coreProperties>
</file>