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Gill Sans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6" roundtripDataSignature="AMtx7mhoPp8s7a+wVRUiQ5aBDT+0Y8kX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GillSans-bold.fntdata"/><Relationship Id="rId14" Type="http://schemas.openxmlformats.org/officeDocument/2006/relationships/font" Target="fonts/GillSans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ana BA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enta BIT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enti BIT....I</a:t>
            </a:r>
            <a:br>
              <a:rPr lang="it-IT"/>
            </a:br>
            <a:r>
              <a:rPr lang="it-IT"/>
              <a:t>huwa BY</a:t>
            </a:r>
            <a:br>
              <a:rPr lang="it-IT"/>
            </a:br>
            <a:r>
              <a:rPr lang="it-IT"/>
              <a:t>heya BIT (== enta)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ihNa BIN</a:t>
            </a:r>
            <a:br>
              <a:rPr lang="it-IT"/>
            </a:br>
            <a:r>
              <a:rPr lang="it-IT"/>
              <a:t>intU BIT...U</a:t>
            </a:r>
            <a:br>
              <a:rPr lang="it-IT"/>
            </a:br>
            <a:r>
              <a:rPr lang="it-IT"/>
              <a:t>huma BY...U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a devient ou ou devient a pour tout </a:t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ctrTitle"/>
          </p:nvPr>
        </p:nvSpPr>
        <p:spPr>
          <a:xfrm>
            <a:off x="1524000" y="1033272"/>
            <a:ext cx="9144000" cy="247802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subTitle"/>
          </p:nvPr>
        </p:nvSpPr>
        <p:spPr>
          <a:xfrm>
            <a:off x="1524000" y="3822192"/>
            <a:ext cx="9144000" cy="1435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1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body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1371600" y="1709738"/>
            <a:ext cx="996696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1371600" y="4974336"/>
            <a:ext cx="9966961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1371600" y="2112264"/>
            <a:ext cx="4846320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2" type="body"/>
          </p:nvPr>
        </p:nvSpPr>
        <p:spPr>
          <a:xfrm>
            <a:off x="6766560" y="2112265"/>
            <a:ext cx="4846320" cy="3959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1371600" y="2112264"/>
            <a:ext cx="4841076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1371600" y="3018472"/>
            <a:ext cx="4841076" cy="3104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3" type="body"/>
          </p:nvPr>
        </p:nvSpPr>
        <p:spPr>
          <a:xfrm>
            <a:off x="6766560" y="2112264"/>
            <a:ext cx="48463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5"/>
          <p:cNvSpPr txBox="1"/>
          <p:nvPr>
            <p:ph idx="4" type="body"/>
          </p:nvPr>
        </p:nvSpPr>
        <p:spPr>
          <a:xfrm>
            <a:off x="6766560" y="3018471"/>
            <a:ext cx="4841076" cy="3104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5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6" name="Google Shape;46;p15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6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type="title"/>
          </p:nvPr>
        </p:nvSpPr>
        <p:spPr>
          <a:xfrm>
            <a:off x="1371600" y="987425"/>
            <a:ext cx="3932237" cy="18945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" type="body"/>
          </p:nvPr>
        </p:nvSpPr>
        <p:spPr>
          <a:xfrm>
            <a:off x="5650992" y="987425"/>
            <a:ext cx="5687568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8"/>
          <p:cNvSpPr txBox="1"/>
          <p:nvPr>
            <p:ph idx="2" type="body"/>
          </p:nvPr>
        </p:nvSpPr>
        <p:spPr>
          <a:xfrm>
            <a:off x="1371600" y="3058510"/>
            <a:ext cx="3932237" cy="2802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8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9"/>
          <p:cNvSpPr txBox="1"/>
          <p:nvPr>
            <p:ph type="title"/>
          </p:nvPr>
        </p:nvSpPr>
        <p:spPr>
          <a:xfrm>
            <a:off x="1371600" y="987552"/>
            <a:ext cx="3932237" cy="18928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/>
          <p:nvPr>
            <p:ph idx="2" type="pic"/>
          </p:nvPr>
        </p:nvSpPr>
        <p:spPr>
          <a:xfrm>
            <a:off x="5505319" y="987425"/>
            <a:ext cx="583324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9"/>
          <p:cNvSpPr txBox="1"/>
          <p:nvPr>
            <p:ph idx="1" type="body"/>
          </p:nvPr>
        </p:nvSpPr>
        <p:spPr>
          <a:xfrm>
            <a:off x="1371600" y="3033286"/>
            <a:ext cx="3932237" cy="2835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9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" type="body"/>
          </p:nvPr>
        </p:nvSpPr>
        <p:spPr>
          <a:xfrm rot="5400000">
            <a:off x="4512564" y="-1028700"/>
            <a:ext cx="3959352" cy="1024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type="title"/>
          </p:nvPr>
        </p:nvSpPr>
        <p:spPr>
          <a:xfrm rot="5400000">
            <a:off x="7614700" y="1949100"/>
            <a:ext cx="484930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 rot="5400000">
            <a:off x="2286218" y="-598082"/>
            <a:ext cx="4849300" cy="7723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/>
          <p:nvPr/>
        </p:nvSpPr>
        <p:spPr>
          <a:xfrm flipH="1" rot="10800000">
            <a:off x="0" y="6401226"/>
            <a:ext cx="12192000" cy="456773"/>
          </a:xfrm>
          <a:prstGeom prst="rect">
            <a:avLst/>
          </a:prstGeom>
          <a:gradFill>
            <a:gsLst>
              <a:gs pos="0">
                <a:srgbClr val="80B113">
                  <a:alpha val="27843"/>
                </a:srgbClr>
              </a:gs>
              <a:gs pos="14000">
                <a:srgbClr val="80B113">
                  <a:alpha val="27843"/>
                </a:srgbClr>
              </a:gs>
              <a:gs pos="100000">
                <a:srgbClr val="4AB821">
                  <a:alpha val="84705"/>
                </a:srgbClr>
              </a:gs>
            </a:gsLst>
            <a:lin ang="6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" name="Google Shape;7;p10"/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0">
                <a:srgbClr val="EFA868">
                  <a:alpha val="54901"/>
                </a:srgbClr>
              </a:gs>
              <a:gs pos="9000">
                <a:srgbClr val="EFA868">
                  <a:alpha val="54901"/>
                </a:srgbClr>
              </a:gs>
              <a:gs pos="99000">
                <a:schemeClr val="accent2"/>
              </a:gs>
              <a:gs pos="100000">
                <a:schemeClr val="accent2"/>
              </a:gs>
            </a:gsLst>
            <a:lin ang="14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" name="Google Shape;8;p10"/>
          <p:cNvSpPr txBox="1"/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b="1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0"/>
          <p:cNvSpPr txBox="1"/>
          <p:nvPr>
            <p:ph idx="1" type="body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0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1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1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1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1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Conjugaison au présent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93" name="Google Shape;93;p1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</a:t>
            </a:r>
            <a:r>
              <a:rPr b="1" i="0" lang="it-IT" sz="2800" u="sng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faire</a:t>
            </a: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fais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fais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(f) fais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fait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 fait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 faisons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 faites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 font</a:t>
            </a:r>
            <a:endParaRPr b="0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فِعْل</a:t>
            </a:r>
            <a:endParaRPr b="1" i="1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</a:t>
            </a:r>
            <a:r>
              <a:rPr b="1" i="0" lang="it-IT" sz="2800" u="sng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عَمَل</a:t>
            </a:r>
            <a:endParaRPr b="1" i="0" sz="2800" u="sng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أَنَا بَعْمَل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إِنْتَ بِتِعْمَل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إِنْتِ بِتِعْمَلي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هُوَ بِيِعْمَل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هِيَ بِتِعْمَل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إِحْنَا بِنِعْمَل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إِنْتُو بِتِعْمَلُو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هُمَّ بِيِعْمَلو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6" name="Google Shape;96;p1"/>
          <p:cNvCxnSpPr/>
          <p:nvPr/>
        </p:nvCxnSpPr>
        <p:spPr>
          <a:xfrm>
            <a:off x="6379779" y="1250303"/>
            <a:ext cx="0" cy="565339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2" name="Google Shape;102;p2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" name="Google Shape;103;p2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4" name="Google Shape;104;p2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5" name="Google Shape;105;p2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07" name="Google Shape;107;p2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</a:t>
            </a:r>
            <a:r>
              <a:rPr b="1" i="0" lang="it-IT" sz="2800" u="sng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sortir</a:t>
            </a: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sors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sors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(f) sors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sort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 sort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 sortons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 sortez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 sortent</a:t>
            </a:r>
            <a:endParaRPr b="0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فِعْل</a:t>
            </a:r>
            <a:endParaRPr b="1" i="1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</a:t>
            </a:r>
            <a:r>
              <a:rPr b="1" i="0" lang="it-IT" sz="2800" u="sng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خَرَج</a:t>
            </a: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أَنَا  بَخْرُج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إِنْتَ بِتِخْرُج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إِنْتِ بِتِخْرُجِي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هُوَ بِيِخْرُج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هِيَ بِتِخْرُج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إِحْنَا بِنِخْرُج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إِنْتُو بِتِخْرُجُو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هُمَّ بِيِخْرُجُو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0" name="Google Shape;110;p2"/>
          <p:cNvCxnSpPr/>
          <p:nvPr/>
        </p:nvCxnSpPr>
        <p:spPr>
          <a:xfrm>
            <a:off x="6379779" y="1250303"/>
            <a:ext cx="0" cy="565339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2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Conjugaison au présent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7" name="Google Shape;117;p3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8" name="Google Shape;118;p3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9" name="Google Shape;119;p3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0" name="Google Shape;120;p3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22" name="Google Shape;122;p3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</a:t>
            </a:r>
            <a:r>
              <a:rPr b="1" i="0" lang="it-IT" sz="2800" u="sng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écrire</a:t>
            </a: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J’écris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écris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(f) écris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écrit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 écrit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 écrivons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 écrivez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 écrivent</a:t>
            </a:r>
            <a:endParaRPr b="0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فِعْل</a:t>
            </a:r>
            <a:endParaRPr b="1" i="1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كَتَب</a:t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أَنَا بَكْتُب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إِنْتَ بِتِكْتُب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إِنْتِ بِتِكْتُبي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هُوَ بِيِكْتُب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هِيَ بِتِكْتُب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إِحْنَا بِنِكْتُب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إِنْتُو بِتِكْتُبُو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هُمَّ بِيِكْتُبُو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5" name="Google Shape;125;p3"/>
          <p:cNvCxnSpPr/>
          <p:nvPr/>
        </p:nvCxnSpPr>
        <p:spPr>
          <a:xfrm>
            <a:off x="6379779" y="1250303"/>
            <a:ext cx="0" cy="565339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3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Conjugaison au présent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2" name="Google Shape;132;p4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3" name="Google Shape;133;p4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4" name="Google Shape;134;p4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5" name="Google Shape;135;p4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37" name="Google Shape;137;p4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</a:t>
            </a:r>
            <a:r>
              <a:rPr b="1" i="0" lang="it-IT" sz="2800" u="sng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boire</a:t>
            </a: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bois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bois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(f) bois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boit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 boit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 buvons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 buvez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 boivent</a:t>
            </a:r>
            <a:endParaRPr b="0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فِعْل</a:t>
            </a:r>
            <a:endParaRPr b="1" i="1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شِرِب</a:t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أَنَا بَشْرَب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إِنْتَ بِتِشْرَب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إِنْتِ بِتِشْرَبِي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هُوَ بِيِشْرَب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هِيَ بِتِشْرَب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إِحْنَا بِنِشْرَب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إِنْتُو بِتِشْرَبُو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هُمَّ بِيِشْرَبُو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0" name="Google Shape;140;p4"/>
          <p:cNvCxnSpPr/>
          <p:nvPr/>
        </p:nvCxnSpPr>
        <p:spPr>
          <a:xfrm>
            <a:off x="6379779" y="1250303"/>
            <a:ext cx="0" cy="565339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" name="Google Shape;141;p4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Conjugaison au présent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7" name="Google Shape;147;p5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8" name="Google Shape;148;p5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9" name="Google Shape;149;p5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0" name="Google Shape;150;p5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52" name="Google Shape;152;p5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</a:t>
            </a:r>
            <a:r>
              <a:rPr b="1" i="0" lang="it-IT" sz="2800" u="sng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s’énerver</a:t>
            </a: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m’énerve 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t’énerves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(f) t’énerves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s’énerve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 s’énerve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 nous énervons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 vous énervez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 s’énervent</a:t>
            </a:r>
            <a:endParaRPr b="0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فِعْل</a:t>
            </a:r>
            <a:endParaRPr b="1" i="1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زِعِل</a:t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أَنَا بَزْعَل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إِنْتَ بِتِزْعَل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إِنْتِ بِتِزْعَلِي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هُوَ بِيِزْعَل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هِيَ بِتِزْعَل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إِحْنَا بِنِزْعَل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إِنْتُو بِتِزْعَلُو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هُمَّ بِيِزْعَلُو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5" name="Google Shape;155;p5"/>
          <p:cNvCxnSpPr/>
          <p:nvPr/>
        </p:nvCxnSpPr>
        <p:spPr>
          <a:xfrm>
            <a:off x="6379779" y="1250303"/>
            <a:ext cx="0" cy="565339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5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Conjugaison au présent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2" name="Google Shape;162;p6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3" name="Google Shape;163;p6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4" name="Google Shape;164;p6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" name="Google Shape;165;p6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67" name="Google Shape;167;p6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</a:t>
            </a:r>
            <a:r>
              <a:rPr b="1" i="0" lang="it-IT" sz="2800" u="sng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comprendre</a:t>
            </a: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comprends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comprends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(f) comprends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comprend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 comprend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 comprenons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 comprenez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 comprennent</a:t>
            </a:r>
            <a:endParaRPr b="0" i="0" sz="1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فِعْل</a:t>
            </a:r>
            <a:endParaRPr b="1" i="1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فِهِم</a:t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أَنَا بَفْهَم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إِنْتَ بِتِفْهَم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إِنْتِ بِتِفْهَمِي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هُوَ بِيِفْهَم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هِيَ بِتِفْهَم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إِحْنَا بِنِفْهَم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إِنْتُو بِتِفْهَمُو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هُمَّ بِيِفْهَمُو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0" name="Google Shape;170;p6"/>
          <p:cNvCxnSpPr/>
          <p:nvPr/>
        </p:nvCxnSpPr>
        <p:spPr>
          <a:xfrm>
            <a:off x="6379779" y="1250303"/>
            <a:ext cx="0" cy="565339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6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Conjugaison au présent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7" name="Google Shape;177;p7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8" name="Google Shape;178;p7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9" name="Google Shape;179;p7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7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82" name="Google Shape;182;p7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/>
          <p:nvPr/>
        </p:nvSpPr>
        <p:spPr>
          <a:xfrm>
            <a:off x="2259724" y="1135117"/>
            <a:ext cx="7620000" cy="73064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Conjuguez les verbes suivants: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سِمِع – دَخَل – فِرِح –  لِبِس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Formez des phrases avec ces verbes: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طَلَب – لَمَس – دَرَس – عَرَف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2878764" y="21285"/>
            <a:ext cx="6432331" cy="914853"/>
          </a:xfrm>
          <a:prstGeom prst="flowChartPreparation">
            <a:avLst/>
          </a:prstGeom>
          <a:solidFill>
            <a:srgbClr val="0070C0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Exercices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8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8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8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8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195" name="Google Shape;195;p8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/>
          <p:nvPr/>
        </p:nvSpPr>
        <p:spPr>
          <a:xfrm>
            <a:off x="1492469" y="1135117"/>
            <a:ext cx="8387255" cy="73064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Traduire les phrases suivantes en égyptien: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Je sors de la maison à 6 heures du matin.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Nous comprenons très bien / On comprends très bien.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Ils s’énervent facilement.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Vous vous énervez chaque jour.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Je bois beaucoup d’eau.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Vous voulez boire 2 tasses de café ou 2 tasses de thé?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Qu’est-ce que tu es en train d’écrire?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878764" y="21285"/>
            <a:ext cx="6432331" cy="914853"/>
          </a:xfrm>
          <a:prstGeom prst="flowChartPreparation">
            <a:avLst/>
          </a:prstGeom>
          <a:solidFill>
            <a:srgbClr val="0070C0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Exercices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3" name="Google Shape;203;p9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chemeClr val="accent2"/>
              </a:gs>
              <a:gs pos="11000">
                <a:schemeClr val="accent2"/>
              </a:gs>
              <a:gs pos="100000">
                <a:srgbClr val="0E8D20">
                  <a:alpha val="8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4" name="Google Shape;204;p9"/>
          <p:cNvSpPr/>
          <p:nvPr/>
        </p:nvSpPr>
        <p:spPr>
          <a:xfrm rot="-54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rgbClr val="4AB821">
                  <a:alpha val="34901"/>
                </a:srgbClr>
              </a:gs>
              <a:gs pos="100000">
                <a:srgbClr val="14BC2C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5" name="Google Shape;205;p9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E9F9C4">
                  <a:alpha val="0"/>
                </a:srgbClr>
              </a:gs>
              <a:gs pos="39000">
                <a:srgbClr val="E9F9C4">
                  <a:alpha val="0"/>
                </a:srgbClr>
              </a:gs>
              <a:gs pos="100000">
                <a:srgbClr val="14BC2C">
                  <a:alpha val="28627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6" name="Google Shape;206;p9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l'alto di uno sfondo con spruzzi di colori" id="208" name="Google Shape;208;p9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/>
          <p:nvPr/>
        </p:nvSpPr>
        <p:spPr>
          <a:xfrm>
            <a:off x="1492469" y="1135117"/>
            <a:ext cx="8387255" cy="73064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Complétez les phrase suivantes avec les noms qui manquent: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فِ – بِيِكْتُب – إِنْتُو – حَاجَة – بِيشْرَبُو - أَوِي – آدَم – اِللِّي – مَاأَقْصُد (مَا قْصُد) - بَخْرُج – أَنَا – عَشَان – تِلْمِيذ – إِنْتُو – ولَّا – جِدًّا - وِبِيْزْعَلُو - مِنِ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أَنَا دِي الْوَقْتِ ...........  الْبِيت ........... أَنَا ........... السَّاعَة وَحْدَة ........... الشُّغْل.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........... بِتِفْهَمُو ........... بَقُولُو ........... لَأَّ؟ دِي ........... غَرِيبَة............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إِنْتِ زْعِلْت؟....... وَاللَّهِ ................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........... خَطُّو حِلْو ........... دَا ........... وَكَإِنُّو ........... فِالْإِعْدَادِي.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نَادْيَة وْأَخُوهَا ........... قَهْوَة كْثِير ........... عَلَى وَلَا حَاجَة</a:t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2878764" y="21285"/>
            <a:ext cx="6432331" cy="914853"/>
          </a:xfrm>
          <a:prstGeom prst="flowChartPreparation">
            <a:avLst/>
          </a:prstGeom>
          <a:solidFill>
            <a:srgbClr val="0070C0"/>
          </a:solidFill>
          <a:ln cap="flat" cmpd="sng" w="12700">
            <a:solidFill>
              <a:srgbClr val="A8251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Exercices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radientRiseVTI">
  <a:themeElements>
    <a:clrScheme name="AnalogousFromRegularSeedRightStep">
      <a:dk1>
        <a:srgbClr val="000000"/>
      </a:dk1>
      <a:lt1>
        <a:srgbClr val="FFFFFF"/>
      </a:lt1>
      <a:dk2>
        <a:srgbClr val="223A3D"/>
      </a:dk2>
      <a:lt2>
        <a:srgbClr val="E2E8E8"/>
      </a:lt2>
      <a:accent1>
        <a:srgbClr val="E73429"/>
      </a:accent1>
      <a:accent2>
        <a:srgbClr val="D57117"/>
      </a:accent2>
      <a:accent3>
        <a:srgbClr val="B4A420"/>
      </a:accent3>
      <a:accent4>
        <a:srgbClr val="80B113"/>
      </a:accent4>
      <a:accent5>
        <a:srgbClr val="4AB821"/>
      </a:accent5>
      <a:accent6>
        <a:srgbClr val="14BC2C"/>
      </a:accent6>
      <a:hlink>
        <a:srgbClr val="329096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2023-02-07T11:23:42Z</dcterms:created>
  <dc:creator>Leila Alami</dc:creator>
</cp:coreProperties>
</file>