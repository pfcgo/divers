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Wednesday, April 19,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450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8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9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3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435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32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5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44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Wednesday, April 19,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380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rte tridimensionale con onde">
            <a:extLst>
              <a:ext uri="{FF2B5EF4-FFF2-40B4-BE49-F238E27FC236}">
                <a16:creationId xmlns:a16="http://schemas.microsoft.com/office/drawing/2014/main" id="{4B977C38-A816-5E58-F41A-0EE2439334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37" r="2191" b="2"/>
          <a:stretch/>
        </p:blipFill>
        <p:spPr>
          <a:xfrm>
            <a:off x="0" y="10"/>
            <a:ext cx="1219200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 rot="20847004">
            <a:off x="-400285" y="445623"/>
            <a:ext cx="12192000" cy="20292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اِلْمِهَن / اِلْوَظَائِف 2</a:t>
            </a:r>
          </a:p>
          <a:p>
            <a:pPr marL="0" algn="ctr" defTabSz="914400" rtl="1" eaLnBrk="1" latinLnBrk="0" hangingPunct="1"/>
            <a:r>
              <a:rPr lang="it-IT" sz="4800" dirty="0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Les </a:t>
            </a:r>
            <a:r>
              <a:rPr lang="it-IT" sz="4800" dirty="0" err="1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métiers</a:t>
            </a:r>
            <a:r>
              <a:rPr lang="it-IT" sz="4800" dirty="0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 / Les </a:t>
            </a:r>
            <a:r>
              <a:rPr lang="it-IT" sz="4800" dirty="0" err="1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professions</a:t>
            </a:r>
            <a:r>
              <a:rPr lang="it-IT" sz="4800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 2</a:t>
            </a:r>
            <a:r>
              <a:rPr lang="ar-SA" sz="4800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 </a:t>
            </a:r>
            <a:endParaRPr lang="it-IT" sz="4800" dirty="0">
              <a:solidFill>
                <a:schemeClr val="accent2">
                  <a:lumMod val="50000"/>
                </a:schemeClr>
              </a:solidFill>
              <a:latin typeface="Algerian" pitchFamily="8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6565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-1" y="0"/>
            <a:ext cx="6231836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pilote</a:t>
            </a:r>
            <a:endParaRPr lang="ar-SA" sz="4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chef / </a:t>
            </a:r>
            <a:r>
              <a:rPr lang="it-IT" sz="4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gérant</a:t>
            </a:r>
            <a:r>
              <a:rPr lang="it-IT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4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it-IT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defTabSz="914400" rtl="1" eaLnBrk="1" latinLnBrk="0" hangingPunct="1"/>
            <a:endParaRPr lang="it-IT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4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Écrivain</a:t>
            </a:r>
            <a:endParaRPr lang="it-IT" sz="4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4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Menuisier</a:t>
            </a:r>
            <a:endParaRPr lang="it-IT" sz="4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4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it-IT" sz="4200" b="1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ê</a:t>
            </a:r>
            <a:r>
              <a:rPr lang="it-IT" sz="4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cheur</a:t>
            </a:r>
            <a:endParaRPr lang="it-IT" sz="4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4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boucher</a:t>
            </a:r>
            <a:endParaRPr lang="it-IT" sz="4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A1C66AB-0961-8F6D-B733-611288B9A639}"/>
              </a:ext>
            </a:extLst>
          </p:cNvPr>
          <p:cNvSpPr/>
          <p:nvPr/>
        </p:nvSpPr>
        <p:spPr>
          <a:xfrm>
            <a:off x="6557307" y="0"/>
            <a:ext cx="5634693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r>
              <a:rPr lang="ar-SA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طَيَّار</a:t>
            </a:r>
          </a:p>
          <a:p>
            <a:pPr marL="0" algn="r" defTabSz="914400" rtl="1" eaLnBrk="1" latinLnBrk="0" hangingPunct="1"/>
            <a:endParaRPr lang="ar-SA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مْعَلِّم</a:t>
            </a:r>
          </a:p>
          <a:p>
            <a:pPr marL="0" algn="r" defTabSz="914400" rtl="1" eaLnBrk="1" latinLnBrk="0" hangingPunct="1"/>
            <a:r>
              <a:rPr lang="ar-SA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algn="r" defTabSz="914400" rtl="1" eaLnBrk="1" latinLnBrk="0" hangingPunct="1"/>
            <a:r>
              <a:rPr lang="ar-SA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كَاتِب</a:t>
            </a:r>
            <a:endParaRPr lang="it-IT" sz="4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ar-SA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4200" b="1" dirty="0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نَجَّار</a:t>
            </a:r>
            <a:endParaRPr lang="it-IT" sz="4200" b="1" dirty="0">
              <a:solidFill>
                <a:schemeClr val="accent2">
                  <a:lumMod val="50000"/>
                </a:schemeClr>
              </a:solidFill>
              <a:latin typeface="Algerian" pitchFamily="82" charset="77"/>
            </a:endParaRPr>
          </a:p>
          <a:p>
            <a:pPr marL="0" algn="r" defTabSz="914400" rtl="1" eaLnBrk="1" latinLnBrk="0" hangingPunct="1"/>
            <a:endParaRPr lang="ar-SA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4200" b="1" dirty="0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صَيَّاد</a:t>
            </a:r>
            <a:endParaRPr lang="it-IT" sz="4200" b="1" dirty="0">
              <a:solidFill>
                <a:schemeClr val="accent2">
                  <a:lumMod val="50000"/>
                </a:schemeClr>
              </a:solidFill>
              <a:latin typeface="Algerian" pitchFamily="82" charset="77"/>
            </a:endParaRPr>
          </a:p>
          <a:p>
            <a:pPr marL="0" algn="r" defTabSz="914400" rtl="1" eaLnBrk="1" latinLnBrk="0" hangingPunct="1"/>
            <a:endParaRPr lang="it-IT" sz="4000" b="1" dirty="0">
              <a:solidFill>
                <a:schemeClr val="accent2">
                  <a:lumMod val="50000"/>
                </a:schemeClr>
              </a:solidFill>
              <a:latin typeface="Algerian" pitchFamily="82" charset="77"/>
            </a:endParaRPr>
          </a:p>
          <a:p>
            <a:pPr marL="0" algn="r" defTabSz="914400" rtl="1" eaLnBrk="1" latinLnBrk="0" hangingPunct="1"/>
            <a:r>
              <a:rPr lang="ar-SA" sz="4200" b="1" dirty="0">
                <a:solidFill>
                  <a:schemeClr val="accent2">
                    <a:lumMod val="50000"/>
                  </a:schemeClr>
                </a:solidFill>
                <a:latin typeface="Algerian" pitchFamily="82" charset="77"/>
              </a:rPr>
              <a:t>جَزَّار</a:t>
            </a:r>
            <a:endParaRPr lang="ar-SA" sz="4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11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0" y="785191"/>
            <a:ext cx="12192000" cy="60728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4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Insérez</a:t>
            </a:r>
            <a:r>
              <a:rPr lang="it-IT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it-IT" sz="4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</a:t>
            </a:r>
            <a:r>
              <a:rPr lang="it-IT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4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</a:t>
            </a:r>
            <a:r>
              <a:rPr lang="it-IT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qui </a:t>
            </a:r>
            <a:r>
              <a:rPr lang="it-IT" sz="4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convient</a:t>
            </a:r>
            <a:r>
              <a:rPr lang="it-IT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ar-SA" sz="4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ar-SA" sz="36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مَا فِيش لَحْمَة فِالثَّلَّاجَة، رُوحِي اشْتِرِيها مِنِ الجَزَّار اللِّي جَنْبِنَا:......................</a:t>
            </a:r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it-IT" sz="36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ar-SA" sz="36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بِيْسَافِر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كِثِير بِالنَّاس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وِعَنْدُو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مَسْؤُولِيَّة كِبِيرَة جِدًّا:..............</a:t>
            </a:r>
          </a:p>
          <a:p>
            <a:pPr marL="0" algn="r" defTabSz="914400" rtl="1" eaLnBrk="1" latinLnBrk="0" hangingPunct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175B7892-89CB-0727-086E-CC0EC2ACB36A}"/>
              </a:ext>
            </a:extLst>
          </p:cNvPr>
          <p:cNvSpPr/>
          <p:nvPr/>
        </p:nvSpPr>
        <p:spPr>
          <a:xfrm>
            <a:off x="0" y="0"/>
            <a:ext cx="12192000" cy="78519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ar-SA" sz="4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4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تَمْرِين     </a:t>
            </a:r>
            <a:r>
              <a:rPr lang="it-IT" sz="4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Exercice</a:t>
            </a:r>
            <a:r>
              <a:rPr lang="ar-SA" sz="4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algn="ctr" defTabSz="914400" rtl="1" eaLnBrk="1" latinLnBrk="0" hangingPunct="1"/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1094196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بِيِشْتَغَل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فِالْبَحْر وِالنَّهْر،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وِبِيْفْرَح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لَمَّا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بِيْحْصُل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عَلَى سَمَكَة:.................</a:t>
            </a:r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أُسْلُوبُه لَازِم يْكُون جَيِّد لِلْقَارِئ،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وِبِيِحِبِّ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يِحْكِي قِصَص:..................</a:t>
            </a:r>
          </a:p>
          <a:p>
            <a:pPr marL="0" algn="r" defTabSz="914400" rtl="1" eaLnBrk="1" latinLnBrk="0" hangingPunct="1"/>
            <a:endParaRPr lang="ar-SA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58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ar-SA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ar-SA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 أَهْلِين يَا ..................،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عَايْزِين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شَاي بْلَبَن وْقَهْوَة وِشِيشَة.</a:t>
            </a:r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endParaRPr lang="ar-SA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6-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بِيِشْتَغَل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بِالْخَشَب وِيِمْكِن يْكُون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عَنْدُو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مَحَلّ وِصُبْيَان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بِيْسَاعْدُوه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:...................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385112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0" y="785191"/>
            <a:ext cx="12192000" cy="60728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4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Insérez</a:t>
            </a:r>
            <a:r>
              <a:rPr lang="it-IT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it-IT" sz="4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</a:t>
            </a:r>
            <a:r>
              <a:rPr lang="it-IT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4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</a:t>
            </a:r>
            <a:r>
              <a:rPr lang="it-IT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qui </a:t>
            </a:r>
            <a:r>
              <a:rPr lang="it-IT" sz="4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convient</a:t>
            </a:r>
            <a:r>
              <a:rPr lang="it-IT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ar-SA" sz="4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ar-SA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1"/>
            <a:r>
              <a:rPr lang="ar-SA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مَا فِيش لَحْمَة فِالثَّلَّاجَة، رُوحِي اشْتِرِيها مِنِ ......................</a:t>
            </a:r>
            <a:endParaRPr lang="it-IT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اللِّي جَنْبِنَا.</a:t>
            </a:r>
          </a:p>
          <a:p>
            <a:pPr marL="0" defTabSz="914400" rtl="1" eaLnBrk="1" latinLnBrk="0" hangingPunct="1"/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Il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n’y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plus de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viande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réfrigérateur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pars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chez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boucher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té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l’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acheter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r" defTabSz="914400" rtl="1" eaLnBrk="1" latinLnBrk="0" hangingPunct="1"/>
            <a:endParaRPr lang="ar-SA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ar-SA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بِيْسَافِر</a:t>
            </a:r>
            <a:r>
              <a:rPr lang="ar-SA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كِثِير بِالنَّاس </a:t>
            </a:r>
            <a:r>
              <a:rPr lang="ar-SA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وِعَنْدُو</a:t>
            </a:r>
            <a:r>
              <a:rPr lang="ar-SA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مَسْؤُولِيَّة كِبِيرَة جِدًّا:..............</a:t>
            </a:r>
          </a:p>
          <a:p>
            <a:pPr marL="0" defTabSz="914400" rtl="1" eaLnBrk="1" latinLnBrk="0" hangingPunct="1"/>
            <a:r>
              <a:rPr lang="ar-SA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Il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accompagne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souvent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gens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leurs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voyages et il a une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énorme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responsabilité</a:t>
            </a:r>
            <a:r>
              <a:rPr lang="it-IT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175B7892-89CB-0727-086E-CC0EC2ACB36A}"/>
              </a:ext>
            </a:extLst>
          </p:cNvPr>
          <p:cNvSpPr/>
          <p:nvPr/>
        </p:nvSpPr>
        <p:spPr>
          <a:xfrm>
            <a:off x="0" y="0"/>
            <a:ext cx="12192000" cy="78519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ar-SA" sz="4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4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تَمْرِين     </a:t>
            </a:r>
            <a:r>
              <a:rPr lang="it-IT" sz="4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Exercice</a:t>
            </a:r>
            <a:r>
              <a:rPr lang="ar-SA" sz="4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algn="ctr" defTabSz="914400" rtl="1" eaLnBrk="1" latinLnBrk="0" hangingPunct="1"/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446056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بِيِشْتَغَل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فِالْبَحْر وِالنَّهْر،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وِبِيْفْرَح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لَمَّا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بِتِطْلَعْلُو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سَمَكَة:.................</a:t>
            </a:r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Il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travaille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la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à la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rivière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il est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très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heureux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quand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obtient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poisson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r" defTabSz="914400" rtl="1" eaLnBrk="1" latinLnBrk="0" hangingPunct="1"/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أُسْلُوبُه لَازِم يِعْجِب الْقَارِئ،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وِبِيِحِبِّ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يِحْكِي قِصَص:..................</a:t>
            </a:r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Son style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doit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plair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lecteur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il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aime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raconter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histoires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796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 أَهْلِين يَا ..................،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عَايْزِين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شَاي بْلَبَن وْقَهْوَة وِشِيشَة. 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Salut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chef, nous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voulons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thé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lait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un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le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narguilé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r" defTabSz="914400" rtl="1" eaLnBrk="1" latinLnBrk="0" hangingPunct="1"/>
            <a:endParaRPr lang="ar-SA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1" eaLnBrk="1" latinLnBrk="0" hangingPunct="1"/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6-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بِيِشْتَغَل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بِالْخَشَب وِيِمْكِن يْكُون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عَنْدُو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مَحَلّ وِصُبْيَان </a:t>
            </a:r>
            <a:r>
              <a:rPr lang="ar-SA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بِيْسَاعْدُوه</a:t>
            </a:r>
            <a:r>
              <a:rPr lang="ar-SA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:...................</a:t>
            </a:r>
            <a:endParaRPr lang="it-IT" sz="4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6- Il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travaille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avec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bois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peut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avoir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magasin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des 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garçons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qui l’</a:t>
            </a:r>
            <a:r>
              <a:rPr lang="it-IT" sz="4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aident</a:t>
            </a:r>
            <a:r>
              <a:rPr lang="it-IT" sz="4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957543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283</Words>
  <Application>Microsoft Macintosh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Algerian</vt:lpstr>
      <vt:lpstr>Arial</vt:lpstr>
      <vt:lpstr>Avenir Next LT Pro</vt:lpstr>
      <vt:lpstr>Times New Roman</vt:lpstr>
      <vt:lpstr>3DFloatVTI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15</cp:revision>
  <dcterms:created xsi:type="dcterms:W3CDTF">2023-04-14T12:41:26Z</dcterms:created>
  <dcterms:modified xsi:type="dcterms:W3CDTF">2023-04-19T14:49:15Z</dcterms:modified>
</cp:coreProperties>
</file>