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rd96LWU4/L9NNjN5RxBsN91lJ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دَايْمًا = toujours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بِنِحْتَاج = nous avons besoin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لِخَدَمَا = service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لِخَدَمَاتُو = ses services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إذَا = si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t-IT" sz="4800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بِنِسْكُن = vivons</a:t>
            </a:r>
            <a:endParaRPr b="1" sz="4800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359149" y="389840"/>
            <a:ext cx="828198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359149" y="3536951"/>
            <a:ext cx="8281989" cy="255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" name="Google Shape;17;p10"/>
          <p:cNvSpPr/>
          <p:nvPr/>
        </p:nvSpPr>
        <p:spPr>
          <a:xfrm rot="2700000">
            <a:off x="612445" y="481888"/>
            <a:ext cx="1080000" cy="1262947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314657"/>
              </a:gs>
              <a:gs pos="30000">
                <a:srgbClr val="314657"/>
              </a:gs>
              <a:gs pos="40000">
                <a:srgbClr val="48667F"/>
              </a:gs>
              <a:gs pos="60000">
                <a:srgbClr val="314657"/>
              </a:gs>
              <a:gs pos="100000">
                <a:schemeClr val="dk2"/>
              </a:gs>
            </a:gsLst>
            <a:lin ang="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" name="Google Shape;18;p10"/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0">
                <a:srgbClr val="2A3C4A"/>
              </a:gs>
              <a:gs pos="50000">
                <a:srgbClr val="2A3C4A"/>
              </a:gs>
              <a:gs pos="100000">
                <a:srgbClr val="314657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" name="Google Shape;19;p10"/>
          <p:cNvSpPr/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20" name="Google Shape;20;p10"/>
          <p:cNvGrpSpPr/>
          <p:nvPr/>
        </p:nvGrpSpPr>
        <p:grpSpPr>
          <a:xfrm>
            <a:off x="1292493" y="4299807"/>
            <a:ext cx="2083885" cy="2083885"/>
            <a:chOff x="4842143" y="3556857"/>
            <a:chExt cx="2083885" cy="2083885"/>
          </a:xfrm>
        </p:grpSpPr>
        <p:sp>
          <p:nvSpPr>
            <p:cNvPr id="21" name="Google Shape;21;p10"/>
            <p:cNvSpPr/>
            <p:nvPr/>
          </p:nvSpPr>
          <p:spPr>
            <a:xfrm flipH="1" rot="8100000">
              <a:off x="5005634" y="4191206"/>
              <a:ext cx="1853969" cy="92698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" name="Google Shape;22;p10"/>
            <p:cNvSpPr/>
            <p:nvPr/>
          </p:nvSpPr>
          <p:spPr>
            <a:xfrm flipH="1" rot="8100000">
              <a:off x="4957101" y="4052255"/>
              <a:ext cx="1853969" cy="109309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99BB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" name="Google Shape;23;p10"/>
            <p:cNvSpPr/>
            <p:nvPr/>
          </p:nvSpPr>
          <p:spPr>
            <a:xfrm flipH="1" rot="2700000">
              <a:off x="6040374" y="3601683"/>
              <a:ext cx="107098" cy="466589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10"/>
            <p:cNvSpPr/>
            <p:nvPr/>
          </p:nvSpPr>
          <p:spPr>
            <a:xfrm flipH="1" rot="2700000">
              <a:off x="5059348" y="4582709"/>
              <a:ext cx="107098" cy="466589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1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27" name="Google Shape;27;p11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" name="Google Shape;28;p11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" name="Google Shape;29;p11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" name="Google Shape;30;p11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99BB5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31" name="Google Shape;31;p11"/>
          <p:cNvSpPr txBox="1"/>
          <p:nvPr>
            <p:ph type="title"/>
          </p:nvPr>
        </p:nvSpPr>
        <p:spPr>
          <a:xfrm>
            <a:off x="550862" y="549275"/>
            <a:ext cx="11091600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550863" y="2113199"/>
            <a:ext cx="11090274" cy="397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12"/>
          <p:cNvGrpSpPr/>
          <p:nvPr/>
        </p:nvGrpSpPr>
        <p:grpSpPr>
          <a:xfrm>
            <a:off x="242406" y="748159"/>
            <a:ext cx="897877" cy="934082"/>
            <a:chOff x="5129684" y="1232940"/>
            <a:chExt cx="897877" cy="934082"/>
          </a:xfrm>
        </p:grpSpPr>
        <p:sp>
          <p:nvSpPr>
            <p:cNvPr id="38" name="Google Shape;38;p12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41" name="Google Shape;41;p12"/>
          <p:cNvSpPr txBox="1"/>
          <p:nvPr>
            <p:ph type="title"/>
          </p:nvPr>
        </p:nvSpPr>
        <p:spPr>
          <a:xfrm>
            <a:off x="563563" y="474345"/>
            <a:ext cx="11077574" cy="29546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Avenir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566271" y="3629772"/>
            <a:ext cx="11074866" cy="2678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2"/>
          <p:cNvSpPr/>
          <p:nvPr/>
        </p:nvSpPr>
        <p:spPr>
          <a:xfrm rot="-2700000">
            <a:off x="11209132" y="4448189"/>
            <a:ext cx="999200" cy="1262947"/>
          </a:xfrm>
          <a:custGeom>
            <a:rect b="b" l="l" r="r" t="t"/>
            <a:pathLst>
              <a:path extrusionOk="0" h="1262947" w="999200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0">
                <a:srgbClr val="314657"/>
              </a:gs>
              <a:gs pos="30000">
                <a:srgbClr val="314657"/>
              </a:gs>
              <a:gs pos="40000">
                <a:srgbClr val="48667F"/>
              </a:gs>
              <a:gs pos="60000">
                <a:srgbClr val="314657"/>
              </a:gs>
              <a:gs pos="100000">
                <a:schemeClr val="dk2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" name="Google Shape;47;p12"/>
          <p:cNvSpPr/>
          <p:nvPr/>
        </p:nvSpPr>
        <p:spPr>
          <a:xfrm rot="2700000">
            <a:off x="11686937" y="4853516"/>
            <a:ext cx="540000" cy="978284"/>
          </a:xfrm>
          <a:custGeom>
            <a:rect b="b" l="l" r="r" t="t"/>
            <a:pathLst>
              <a:path extrusionOk="0" h="978284" w="540000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rgbClr val="3146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50" name="Google Shape;50;p13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51" name="Google Shape;51;p13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8667F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2" name="Google Shape;52;p13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rgbClr val="2A3C4A"/>
                </a:gs>
                <a:gs pos="50000">
                  <a:srgbClr val="2A3C4A"/>
                </a:gs>
                <a:gs pos="100000">
                  <a:srgbClr val="31465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3" name="Google Shape;53;p13"/>
          <p:cNvSpPr txBox="1"/>
          <p:nvPr>
            <p:ph type="title"/>
          </p:nvPr>
        </p:nvSpPr>
        <p:spPr>
          <a:xfrm>
            <a:off x="550863" y="54927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6205538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550862" y="549275"/>
            <a:ext cx="11097551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50864" y="1881275"/>
            <a:ext cx="5437186" cy="5353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50863" y="2577270"/>
            <a:ext cx="5429114" cy="351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body"/>
          </p:nvPr>
        </p:nvSpPr>
        <p:spPr>
          <a:xfrm>
            <a:off x="6212024" y="1881275"/>
            <a:ext cx="5436392" cy="5353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b="0" sz="14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4" type="body"/>
          </p:nvPr>
        </p:nvSpPr>
        <p:spPr>
          <a:xfrm>
            <a:off x="6212023" y="2577270"/>
            <a:ext cx="5436391" cy="3515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359149" y="550799"/>
            <a:ext cx="8283313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75" name="Google Shape;75;p15"/>
          <p:cNvSpPr/>
          <p:nvPr/>
        </p:nvSpPr>
        <p:spPr>
          <a:xfrm flipH="1" rot="8100000">
            <a:off x="-410727" y="3958416"/>
            <a:ext cx="3536330" cy="1853969"/>
          </a:xfrm>
          <a:custGeom>
            <a:rect b="b" l="l" r="r" t="t"/>
            <a:pathLst>
              <a:path extrusionOk="0" h="1853969" w="3536330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>
            <a:gsLst>
              <a:gs pos="0">
                <a:srgbClr val="314657"/>
              </a:gs>
              <a:gs pos="31000">
                <a:srgbClr val="314657"/>
              </a:gs>
              <a:gs pos="97000">
                <a:schemeClr val="dk2"/>
              </a:gs>
              <a:gs pos="100000">
                <a:schemeClr val="dk2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6" name="Google Shape;76;p15"/>
          <p:cNvSpPr/>
          <p:nvPr/>
        </p:nvSpPr>
        <p:spPr>
          <a:xfrm flipH="1" rot="8100000">
            <a:off x="-481151" y="3649708"/>
            <a:ext cx="3478701" cy="2164843"/>
          </a:xfrm>
          <a:custGeom>
            <a:rect b="b" l="l" r="r" t="t"/>
            <a:pathLst>
              <a:path extrusionOk="0" h="2164843" w="3478701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rgbClr val="799BB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" name="Google Shape;77;p15"/>
          <p:cNvSpPr/>
          <p:nvPr/>
        </p:nvSpPr>
        <p:spPr>
          <a:xfrm flipH="1" rot="2700000">
            <a:off x="1512277" y="2840042"/>
            <a:ext cx="214196" cy="933178"/>
          </a:xfrm>
          <a:prstGeom prst="ellipse">
            <a:avLst/>
          </a:prstGeom>
          <a:solidFill>
            <a:srgbClr val="3146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509106" y="1383159"/>
            <a:ext cx="897877" cy="934082"/>
            <a:chOff x="5129684" y="1232940"/>
            <a:chExt cx="897877" cy="934082"/>
          </a:xfrm>
        </p:grpSpPr>
        <p:sp>
          <p:nvSpPr>
            <p:cNvPr id="80" name="Google Shape;80;p15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7"/>
          <p:cNvGrpSpPr/>
          <p:nvPr/>
        </p:nvGrpSpPr>
        <p:grpSpPr>
          <a:xfrm>
            <a:off x="4752748" y="4823504"/>
            <a:ext cx="1656714" cy="1656714"/>
            <a:chOff x="2481534" y="2139594"/>
            <a:chExt cx="1656714" cy="1656714"/>
          </a:xfrm>
        </p:grpSpPr>
        <p:sp>
          <p:nvSpPr>
            <p:cNvPr id="89" name="Google Shape;89;p17"/>
            <p:cNvSpPr/>
            <p:nvPr/>
          </p:nvSpPr>
          <p:spPr>
            <a:xfrm rot="2700000">
              <a:off x="2769891" y="2336477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8667F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2A3C4A"/>
                </a:gs>
                <a:gs pos="50000">
                  <a:srgbClr val="2A3C4A"/>
                </a:gs>
                <a:gs pos="100000">
                  <a:srgbClr val="31465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1" name="Google Shape;91;p17"/>
          <p:cNvSpPr txBox="1"/>
          <p:nvPr>
            <p:ph type="title"/>
          </p:nvPr>
        </p:nvSpPr>
        <p:spPr>
          <a:xfrm>
            <a:off x="550863" y="549275"/>
            <a:ext cx="11090275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295775" y="1750060"/>
            <a:ext cx="7345362" cy="43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3" name="Google Shape;93;p17"/>
          <p:cNvSpPr txBox="1"/>
          <p:nvPr>
            <p:ph idx="2" type="body"/>
          </p:nvPr>
        </p:nvSpPr>
        <p:spPr>
          <a:xfrm>
            <a:off x="550863" y="1750060"/>
            <a:ext cx="3565525" cy="4342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8"/>
          <p:cNvGrpSpPr/>
          <p:nvPr/>
        </p:nvGrpSpPr>
        <p:grpSpPr>
          <a:xfrm>
            <a:off x="220889" y="4984670"/>
            <a:ext cx="897877" cy="934082"/>
            <a:chOff x="5129684" y="1232940"/>
            <a:chExt cx="897877" cy="934082"/>
          </a:xfrm>
        </p:grpSpPr>
        <p:sp>
          <p:nvSpPr>
            <p:cNvPr id="99" name="Google Shape;99;p18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18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314657">
                    <a:alpha val="20000"/>
                  </a:srgbClr>
                </a:gs>
                <a:gs pos="20000">
                  <a:srgbClr val="314657">
                    <a:alpha val="20000"/>
                  </a:srgbClr>
                </a:gs>
                <a:gs pos="100000">
                  <a:srgbClr val="82C0D6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02" name="Google Shape;102;p18"/>
          <p:cNvSpPr txBox="1"/>
          <p:nvPr>
            <p:ph type="title"/>
          </p:nvPr>
        </p:nvSpPr>
        <p:spPr>
          <a:xfrm>
            <a:off x="550863" y="575409"/>
            <a:ext cx="4500562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venir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8"/>
          <p:cNvSpPr/>
          <p:nvPr>
            <p:ph idx="2" type="pic"/>
          </p:nvPr>
        </p:nvSpPr>
        <p:spPr>
          <a:xfrm>
            <a:off x="5267324" y="575409"/>
            <a:ext cx="6373813" cy="5733316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550863" y="1776195"/>
            <a:ext cx="4500562" cy="453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550862" y="503906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 rot="5400000">
            <a:off x="4107182" y="-1442457"/>
            <a:ext cx="3978963" cy="11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venir"/>
              <a:buNone/>
              <a:defRPr b="0" i="0" sz="4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25" name="Google Shape;125;p1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126" name="Google Shape;126;p1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pic>
        <p:nvPicPr>
          <p:cNvPr descr="Arte tridimensionale con onde" id="128" name="Google Shape;128;p1"/>
          <p:cNvPicPr preferRelativeResize="0"/>
          <p:nvPr/>
        </p:nvPicPr>
        <p:blipFill rotWithShape="1">
          <a:blip r:embed="rId3">
            <a:alphaModFix/>
          </a:blip>
          <a:srcRect b="2" l="13637" r="2191" t="0"/>
          <a:stretch/>
        </p:blipFill>
        <p:spPr>
          <a:xfrm>
            <a:off x="0" y="10"/>
            <a:ext cx="12192001" cy="6857990"/>
          </a:xfrm>
          <a:custGeom>
            <a:rect b="b" l="l" r="r" t="t"/>
            <a:pathLst>
              <a:path extrusionOk="0" h="6858000" w="7448551">
                <a:moveTo>
                  <a:pt x="0" y="0"/>
                </a:moveTo>
                <a:lnTo>
                  <a:pt x="7448551" y="0"/>
                </a:lnTo>
                <a:lnTo>
                  <a:pt x="7448551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1" name="Google Shape;131;p1"/>
          <p:cNvSpPr/>
          <p:nvPr/>
        </p:nvSpPr>
        <p:spPr>
          <a:xfrm rot="-752996">
            <a:off x="-400285" y="445623"/>
            <a:ext cx="12192000" cy="2029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اِلْمِهَن / اِلْوَظَائِف 3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48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Les métiers / Les professions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137" name="Google Shape;137;p2"/>
          <p:cNvGrpSpPr/>
          <p:nvPr/>
        </p:nvGrpSpPr>
        <p:grpSpPr>
          <a:xfrm>
            <a:off x="325472" y="346234"/>
            <a:ext cx="828358" cy="828358"/>
            <a:chOff x="10462536" y="1408249"/>
            <a:chExt cx="828358" cy="828358"/>
          </a:xfrm>
        </p:grpSpPr>
        <p:sp>
          <p:nvSpPr>
            <p:cNvPr id="138" name="Google Shape;138;p2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314657"/>
                </a:gs>
                <a:gs pos="30000">
                  <a:srgbClr val="314657"/>
                </a:gs>
                <a:gs pos="40000">
                  <a:srgbClr val="415C71"/>
                </a:gs>
                <a:gs pos="60000">
                  <a:srgbClr val="314657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3146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0" y="5773729"/>
            <a:ext cx="12192000" cy="1084271"/>
          </a:xfrm>
          <a:prstGeom prst="rect">
            <a:avLst/>
          </a:prstGeom>
          <a:gradFill>
            <a:gsLst>
              <a:gs pos="0">
                <a:srgbClr val="23323E">
                  <a:alpha val="0"/>
                </a:srgbClr>
              </a:gs>
              <a:gs pos="28000">
                <a:srgbClr val="23323E">
                  <a:alpha val="0"/>
                </a:srgbClr>
              </a:gs>
              <a:gs pos="90000">
                <a:srgbClr val="23323E">
                  <a:alpha val="60000"/>
                </a:srgbClr>
              </a:gs>
              <a:gs pos="100000">
                <a:srgbClr val="23323E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4121219" y="5433223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99BB5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-1" y="0"/>
            <a:ext cx="6095999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coiffeur</a:t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plombier</a:t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jardinier</a:t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infirmier</a:t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Peintre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cuisinier</a:t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حَلَّاق/halaaq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سَبَّاك/sabbak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جَنَايْنِي/janayni</a:t>
            </a:r>
            <a:endParaRPr b="1" i="0" sz="40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مُمَرِّض/mumarrid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رَسَّام/rassam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Algerian"/>
                <a:ea typeface="Algerian"/>
                <a:cs typeface="Algerian"/>
                <a:sym typeface="Algerian"/>
              </a:rPr>
              <a:t>طَبَّاخ/tabbakh</a:t>
            </a:r>
            <a:endParaRPr b="0" i="0" sz="4000" u="none" cap="none" strike="noStrike">
              <a:solidFill>
                <a:srgbClr val="235A5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/>
          <p:nvPr/>
        </p:nvSpPr>
        <p:spPr>
          <a:xfrm>
            <a:off x="0" y="805070"/>
            <a:ext cx="12192000" cy="605293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984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Insérez le nom de profession qui convient :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دَايْمًا بِنِحْتَاج لِخَدَمَاتُو إذَا كُنَّا بِنِسْكُن فِبِيت قَدِيم :.............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مِش بَسِّ بِيِشْتَغَل كُوَيِّس، دَا لَازِم يِبْتَسِم لِلْعَيَّانِين: ............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0" y="0"/>
            <a:ext cx="12192000" cy="8050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6C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8460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تَمْرِين     Exercice 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كُلِّ السِّتَّات بِتِتْمَنَّى يْكُون عِنْدَهَا وَاحِد فِالْبِيت عَشَان تِرْتَاح :...................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بِيِعْرَض لَوْحَاتُو فِالْمَعَارِض: ...................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مِن يُوم مَا جَارْتِي جَابِت وَاحِد وِجِنِينِتْهَا مَلْيَانَة وَرْد :...................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 اِلرِّجَّالَة بِيْرُوحُولُو عَشَان يِقُصُّو شَعْرُهُم:..................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0" y="805070"/>
            <a:ext cx="12192000" cy="605293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984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Insérez le nom de profession qui convient :</a:t>
            </a:r>
            <a:endParaRPr b="1" i="0" sz="48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دَايْمًا بِنِحْتَاج لِخَدَمَاتُو إذَا كُنَّا بِنِسْكُن فِبِيت قَدِيم :.............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0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 Nous avons toujours besoin de ses services, si nous habitons dans une vieille maison.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مِش بَسِّ بِيِشْتَغَل كُوَيِّس، دَا لَازِم يِبْتِسِم لِلْعَيَّانِين: ............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 Non seulement il travaille bien, il doit aussi sourire aux patients.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0" y="0"/>
            <a:ext cx="12192000" cy="8050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2B6C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984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8460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تَمْرِين     Exercice 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كُلِّ السِّتَّات بِتِتْمَنَّى يْكُون عِنْدَهَا وَاحِد فِالْبِيت عَشَان تِرْتَاح :.............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 Nous avons toujours besoin de ses services si nous habitons dans une vieille maison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بِيِعْرَض لَوْحَاتُو فِالْمَعَارِض: ............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 Il expose ses tableaux dans des foires/</a:t>
            </a:r>
            <a:r>
              <a:rPr b="1" i="0" lang="it-IT" sz="4800" u="none" cap="none" strike="noStrike">
                <a:solidFill>
                  <a:srgbClr val="235A5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expositions</a:t>
            </a: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D4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مِن يُوم مَا جَارْتِي جَابِت وَاحِد وِجِنِينِتْهَا مَلْيَانَة وَرْد :.................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 Depuis que ma voisine en ha embauché un, son jardin est devenu plein de roses.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8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8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 اِلرِّجَّالَة بِيْرُوحُولُو عَشَان يِقُصُّو شَعْرُهُم:................</a:t>
            </a:r>
            <a:endParaRPr/>
          </a:p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4400" u="none" cap="none" strike="noStrike">
                <a:solidFill>
                  <a:srgbClr val="235A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6- Les hommes vont chez lui pour se faire couper les cheveux.</a:t>
            </a:r>
            <a:endParaRPr b="1" i="0" sz="4400" u="none" cap="none" strike="noStrike">
              <a:solidFill>
                <a:srgbClr val="235A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DFloatVTI">
  <a:themeElements>
    <a:clrScheme name="AnalogousFromRegularSeed_2SEEDS">
      <a:dk1>
        <a:srgbClr val="000000"/>
      </a:dk1>
      <a:lt1>
        <a:srgbClr val="FFFFFF"/>
      </a:lt1>
      <a:dk2>
        <a:srgbClr val="23323E"/>
      </a:dk2>
      <a:lt2>
        <a:srgbClr val="E8E3E2"/>
      </a:lt2>
      <a:accent1>
        <a:srgbClr val="3B94B1"/>
      </a:accent1>
      <a:accent2>
        <a:srgbClr val="46B4A1"/>
      </a:accent2>
      <a:accent3>
        <a:srgbClr val="4D74C3"/>
      </a:accent3>
      <a:accent4>
        <a:srgbClr val="B13B58"/>
      </a:accent4>
      <a:accent5>
        <a:srgbClr val="C3604D"/>
      </a:accent5>
      <a:accent6>
        <a:srgbClr val="B1803B"/>
      </a:accent6>
      <a:hlink>
        <a:srgbClr val="BF5F3F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2023-04-14T12:41:26Z</dcterms:created>
  <dc:creator>Leila Alami</dc:creator>
</cp:coreProperties>
</file>