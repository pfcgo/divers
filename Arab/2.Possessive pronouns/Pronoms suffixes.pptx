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6858000" cx="12192000"/>
  <p:notesSz cx="6858000" cy="9144000"/>
  <p:embeddedFontLst>
    <p:embeddedFont>
      <p:font typeface="Sorts Mill Goudy"/>
      <p:regular r:id="rId10"/>
      <p:italic r:id="rId11"/>
    </p:embeddedFont>
    <p:embeddedFont>
      <p:font typeface="Gill Sans"/>
      <p:regular r:id="rId12"/>
      <p:bold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jYZt+MbtExpWNSnBshvDa7ud2z1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SortsMillGoudy-italic.fntdata"/><Relationship Id="rId10" Type="http://schemas.openxmlformats.org/officeDocument/2006/relationships/font" Target="fonts/SortsMillGoudy-regular.fntdata"/><Relationship Id="rId13" Type="http://schemas.openxmlformats.org/officeDocument/2006/relationships/font" Target="fonts/GillSans-bold.fntdata"/><Relationship Id="rId12" Type="http://schemas.openxmlformats.org/officeDocument/2006/relationships/font" Target="fonts/GillSans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ar-SA"/>
              <a:t>https://arabic.desert-sky.net/g_pronouns_poss.html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ar-SA"/>
              <a:t>Note: In Egyptian Arabic, if a noun, verb, or preposition ends in a vowel that is not a taa' marbuuTa, some of the pronoun suffixes you'll need to use with it will change. For object/possessive pronouns: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ar-SA"/>
              <a:t>ـني (-ni) stays the same.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ar-SA"/>
              <a:t>ـي (-i)	→ ـيا (-ya)  ------ je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ar-SA"/>
              <a:t>ـك (-ak)	→ ـك (-k)</a:t>
            </a:r>
            <a:r>
              <a:rPr lang="ar-SA">
                <a:solidFill>
                  <a:schemeClr val="dk1"/>
                </a:solidFill>
              </a:rPr>
              <a:t>  ------ tu (m)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ar-SA"/>
              <a:t>ـك (-ik)	→ ـكي (-ki)  </a:t>
            </a:r>
            <a:r>
              <a:rPr lang="ar-SA">
                <a:solidFill>
                  <a:schemeClr val="dk1"/>
                </a:solidFill>
              </a:rPr>
              <a:t>  ------ tu (f)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ar-SA"/>
              <a:t>ـه (-u)	→ ـه (-h) </a:t>
            </a:r>
            <a:r>
              <a:rPr lang="ar-SA">
                <a:solidFill>
                  <a:schemeClr val="dk1"/>
                </a:solidFill>
              </a:rPr>
              <a:t>  ------ il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ar-SA">
                <a:solidFill>
                  <a:schemeClr val="dk1"/>
                </a:solidFill>
              </a:rPr>
              <a:t>===========================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ar-SA" sz="1000">
                <a:solidFill>
                  <a:srgbClr val="004276"/>
                </a:solidFill>
                <a:latin typeface="Verdana"/>
                <a:ea typeface="Verdana"/>
                <a:cs typeface="Verdana"/>
                <a:sym typeface="Verdana"/>
              </a:rPr>
              <a:t>Note:</a:t>
            </a:r>
            <a:r>
              <a:rPr lang="ar-SA" sz="1000">
                <a:solidFill>
                  <a:srgbClr val="666666"/>
                </a:solidFill>
                <a:latin typeface="Verdana"/>
                <a:ea typeface="Verdana"/>
                <a:cs typeface="Verdana"/>
                <a:sym typeface="Verdana"/>
              </a:rPr>
              <a:t> If the noun that's owned ends in a taa' marbuuTa (</a:t>
            </a:r>
            <a:r>
              <a:rPr lang="ar-SA" sz="1400">
                <a:solidFill>
                  <a:srgbClr val="666666"/>
                </a:solidFill>
                <a:latin typeface="Verdana"/>
                <a:ea typeface="Verdana"/>
                <a:cs typeface="Verdana"/>
                <a:sym typeface="Verdana"/>
              </a:rPr>
              <a:t>ـة</a:t>
            </a:r>
            <a:r>
              <a:rPr lang="ar-SA" sz="1000">
                <a:solidFill>
                  <a:srgbClr val="666666"/>
                </a:solidFill>
                <a:latin typeface="Verdana"/>
                <a:ea typeface="Verdana"/>
                <a:cs typeface="Verdana"/>
                <a:sym typeface="Verdana"/>
              </a:rPr>
              <a:t>), the taa' marbuuTa must be "untied" and made into a </a:t>
            </a:r>
            <a:r>
              <a:rPr lang="ar-SA" sz="1400">
                <a:solidFill>
                  <a:srgbClr val="666666"/>
                </a:solidFill>
                <a:latin typeface="Verdana"/>
                <a:ea typeface="Verdana"/>
                <a:cs typeface="Verdana"/>
                <a:sym typeface="Verdana"/>
              </a:rPr>
              <a:t>ت</a:t>
            </a:r>
            <a:r>
              <a:rPr lang="ar-SA" sz="1000">
                <a:solidFill>
                  <a:srgbClr val="666666"/>
                </a:solidFill>
                <a:latin typeface="Verdana"/>
                <a:ea typeface="Verdana"/>
                <a:cs typeface="Verdana"/>
                <a:sym typeface="Verdana"/>
              </a:rPr>
              <a:t> before the pronoun suffix is added:</a:t>
            </a:r>
            <a:endParaRPr sz="1000">
              <a:solidFill>
                <a:srgbClr val="666666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584200" marR="1016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ar-SA" sz="1400">
                <a:solidFill>
                  <a:srgbClr val="666666"/>
                </a:solidFill>
                <a:highlight>
                  <a:srgbClr val="F0F4F5"/>
                </a:highlight>
                <a:latin typeface="Verdana"/>
                <a:ea typeface="Verdana"/>
                <a:cs typeface="Verdana"/>
                <a:sym typeface="Verdana"/>
              </a:rPr>
              <a:t>خالة</a:t>
            </a:r>
            <a:r>
              <a:rPr lang="ar-SA" sz="1000">
                <a:solidFill>
                  <a:srgbClr val="666666"/>
                </a:solidFill>
                <a:highlight>
                  <a:srgbClr val="F0F4F5"/>
                </a:highlight>
                <a:latin typeface="Verdana"/>
                <a:ea typeface="Verdana"/>
                <a:cs typeface="Verdana"/>
                <a:sym typeface="Verdana"/>
              </a:rPr>
              <a:t> (xaala) - maternal aunt</a:t>
            </a:r>
            <a:endParaRPr sz="1000">
              <a:solidFill>
                <a:srgbClr val="666666"/>
              </a:solidFill>
              <a:highlight>
                <a:srgbClr val="F0F4F5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0" lvl="0" marL="584200" marR="10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000">
                <a:solidFill>
                  <a:srgbClr val="666666"/>
                </a:solidFill>
                <a:highlight>
                  <a:srgbClr val="F0F4F5"/>
                </a:highlight>
                <a:latin typeface="Verdana"/>
                <a:ea typeface="Verdana"/>
                <a:cs typeface="Verdana"/>
                <a:sym typeface="Verdana"/>
              </a:rPr>
              <a:t>Untie the taa' marbuuTa to get </a:t>
            </a:r>
            <a:r>
              <a:rPr lang="ar-SA" sz="1400">
                <a:solidFill>
                  <a:srgbClr val="666666"/>
                </a:solidFill>
                <a:highlight>
                  <a:srgbClr val="F0F4F5"/>
                </a:highlight>
                <a:latin typeface="Verdana"/>
                <a:ea typeface="Verdana"/>
                <a:cs typeface="Verdana"/>
                <a:sym typeface="Verdana"/>
              </a:rPr>
              <a:t>خالت</a:t>
            </a:r>
            <a:r>
              <a:rPr lang="ar-SA" sz="1000">
                <a:solidFill>
                  <a:srgbClr val="666666"/>
                </a:solidFill>
                <a:highlight>
                  <a:srgbClr val="F0F4F5"/>
                </a:highlight>
                <a:latin typeface="Verdana"/>
                <a:ea typeface="Verdana"/>
                <a:cs typeface="Verdana"/>
                <a:sym typeface="Verdana"/>
              </a:rPr>
              <a:t> and then add the pronoun suffix:</a:t>
            </a:r>
            <a:endParaRPr sz="1000">
              <a:solidFill>
                <a:srgbClr val="666666"/>
              </a:solidFill>
              <a:highlight>
                <a:srgbClr val="F0F4F5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0" lvl="0" marL="584200" marR="10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400">
                <a:solidFill>
                  <a:srgbClr val="666666"/>
                </a:solidFill>
                <a:highlight>
                  <a:srgbClr val="F0F4F5"/>
                </a:highlight>
                <a:latin typeface="Verdana"/>
                <a:ea typeface="Verdana"/>
                <a:cs typeface="Verdana"/>
                <a:sym typeface="Verdana"/>
              </a:rPr>
              <a:t>خالتي</a:t>
            </a:r>
            <a:r>
              <a:rPr lang="ar-SA" sz="1000">
                <a:solidFill>
                  <a:srgbClr val="666666"/>
                </a:solidFill>
                <a:highlight>
                  <a:srgbClr val="F0F4F5"/>
                </a:highlight>
                <a:latin typeface="Verdana"/>
                <a:ea typeface="Verdana"/>
                <a:cs typeface="Verdana"/>
                <a:sym typeface="Verdana"/>
              </a:rPr>
              <a:t> (xalt</a:t>
            </a:r>
            <a:r>
              <a:rPr b="1" lang="ar-SA" sz="1000">
                <a:solidFill>
                  <a:srgbClr val="666666"/>
                </a:solidFill>
                <a:highlight>
                  <a:srgbClr val="F0F4F5"/>
                </a:highlight>
                <a:latin typeface="Verdana"/>
                <a:ea typeface="Verdana"/>
                <a:cs typeface="Verdana"/>
                <a:sym typeface="Verdana"/>
              </a:rPr>
              <a:t>i</a:t>
            </a:r>
            <a:r>
              <a:rPr lang="ar-SA" sz="1000">
                <a:solidFill>
                  <a:srgbClr val="666666"/>
                </a:solidFill>
                <a:highlight>
                  <a:srgbClr val="F0F4F5"/>
                </a:highlight>
                <a:latin typeface="Verdana"/>
                <a:ea typeface="Verdana"/>
                <a:cs typeface="Verdana"/>
                <a:sym typeface="Verdana"/>
              </a:rPr>
              <a:t>) - </a:t>
            </a:r>
            <a:r>
              <a:rPr b="1" lang="ar-SA" sz="1000">
                <a:solidFill>
                  <a:srgbClr val="666666"/>
                </a:solidFill>
                <a:highlight>
                  <a:srgbClr val="F0F4F5"/>
                </a:highlight>
                <a:latin typeface="Verdana"/>
                <a:ea typeface="Verdana"/>
                <a:cs typeface="Verdana"/>
                <a:sym typeface="Verdana"/>
              </a:rPr>
              <a:t>my</a:t>
            </a:r>
            <a:r>
              <a:rPr lang="ar-SA" sz="1000">
                <a:solidFill>
                  <a:srgbClr val="666666"/>
                </a:solidFill>
                <a:highlight>
                  <a:srgbClr val="F0F4F5"/>
                </a:highlight>
                <a:latin typeface="Verdana"/>
                <a:ea typeface="Verdana"/>
                <a:cs typeface="Verdana"/>
                <a:sym typeface="Verdana"/>
              </a:rPr>
              <a:t> maternal aunt</a:t>
            </a:r>
            <a:endParaRPr sz="1000">
              <a:solidFill>
                <a:srgbClr val="666666"/>
              </a:solidFill>
              <a:highlight>
                <a:srgbClr val="F0F4F5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7"/>
          <p:cNvSpPr txBox="1"/>
          <p:nvPr>
            <p:ph type="ctrTitle"/>
          </p:nvPr>
        </p:nvSpPr>
        <p:spPr>
          <a:xfrm>
            <a:off x="2057400" y="685801"/>
            <a:ext cx="8115300" cy="30462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orts Mill Goudy"/>
              <a:buNone/>
              <a:defRPr sz="36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7"/>
          <p:cNvSpPr txBox="1"/>
          <p:nvPr>
            <p:ph idx="1" type="subTitle"/>
          </p:nvPr>
        </p:nvSpPr>
        <p:spPr>
          <a:xfrm>
            <a:off x="2057400" y="4114800"/>
            <a:ext cx="81153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80"/>
              <a:buNone/>
              <a:defRPr i="1" sz="2400"/>
            </a:lvl1pPr>
            <a:lvl2pPr lvl="1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6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12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12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7"/>
          <p:cNvSpPr txBox="1"/>
          <p:nvPr>
            <p:ph idx="10" type="dt"/>
          </p:nvPr>
        </p:nvSpPr>
        <p:spPr>
          <a:xfrm rot="5400000">
            <a:off x="9800022" y="3223751"/>
            <a:ext cx="4114801" cy="4105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7"/>
          <p:cNvSpPr txBox="1"/>
          <p:nvPr>
            <p:ph idx="11" type="ftr"/>
          </p:nvPr>
        </p:nvSpPr>
        <p:spPr>
          <a:xfrm rot="5400000">
            <a:off x="-1708136" y="3223750"/>
            <a:ext cx="4114800" cy="4105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7"/>
          <p:cNvSpPr txBox="1"/>
          <p:nvPr>
            <p:ph idx="12" type="sldNum"/>
          </p:nvPr>
        </p:nvSpPr>
        <p:spPr>
          <a:xfrm>
            <a:off x="11116340" y="6356350"/>
            <a:ext cx="87186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8"/>
          <p:cNvSpPr txBox="1"/>
          <p:nvPr>
            <p:ph type="title"/>
          </p:nvPr>
        </p:nvSpPr>
        <p:spPr>
          <a:xfrm>
            <a:off x="1371600" y="685800"/>
            <a:ext cx="94869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Sorts Mill Goudy"/>
              <a:buNone/>
              <a:defRPr sz="32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8"/>
          <p:cNvSpPr txBox="1"/>
          <p:nvPr>
            <p:ph idx="1" type="body"/>
          </p:nvPr>
        </p:nvSpPr>
        <p:spPr>
          <a:xfrm>
            <a:off x="1371599" y="2254103"/>
            <a:ext cx="9486901" cy="3918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0861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260"/>
              <a:buChar char="•"/>
              <a:defRPr/>
            </a:lvl1pPr>
            <a:lvl2pPr indent="-30861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60"/>
              <a:buChar char="•"/>
              <a:defRPr/>
            </a:lvl2pPr>
            <a:lvl3pPr indent="-30861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60"/>
              <a:buChar char="•"/>
              <a:defRPr/>
            </a:lvl3pPr>
            <a:lvl4pPr indent="-30861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60"/>
              <a:buChar char="•"/>
              <a:defRPr/>
            </a:lvl4pPr>
            <a:lvl5pPr indent="-30861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6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8"/>
          <p:cNvSpPr txBox="1"/>
          <p:nvPr>
            <p:ph idx="10" type="dt"/>
          </p:nvPr>
        </p:nvSpPr>
        <p:spPr>
          <a:xfrm rot="5400000">
            <a:off x="9800022" y="3223751"/>
            <a:ext cx="4114801" cy="4105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8"/>
          <p:cNvSpPr txBox="1"/>
          <p:nvPr>
            <p:ph idx="11" type="ftr"/>
          </p:nvPr>
        </p:nvSpPr>
        <p:spPr>
          <a:xfrm rot="5400000">
            <a:off x="-1708136" y="3223750"/>
            <a:ext cx="4114800" cy="4105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8"/>
          <p:cNvSpPr txBox="1"/>
          <p:nvPr>
            <p:ph idx="12" type="sldNum"/>
          </p:nvPr>
        </p:nvSpPr>
        <p:spPr>
          <a:xfrm>
            <a:off x="11116340" y="6356350"/>
            <a:ext cx="87186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9"/>
          <p:cNvSpPr txBox="1"/>
          <p:nvPr>
            <p:ph type="title"/>
          </p:nvPr>
        </p:nvSpPr>
        <p:spPr>
          <a:xfrm>
            <a:off x="831850" y="1709738"/>
            <a:ext cx="10515600" cy="277407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Sorts Mill Goudy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9"/>
          <p:cNvSpPr txBox="1"/>
          <p:nvPr>
            <p:ph idx="1" type="body"/>
          </p:nvPr>
        </p:nvSpPr>
        <p:spPr>
          <a:xfrm>
            <a:off x="831850" y="4641624"/>
            <a:ext cx="10515600" cy="14480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1680"/>
              <a:buNone/>
              <a:defRPr i="1"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6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12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12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9"/>
          <p:cNvSpPr txBox="1"/>
          <p:nvPr>
            <p:ph idx="10" type="dt"/>
          </p:nvPr>
        </p:nvSpPr>
        <p:spPr>
          <a:xfrm rot="5400000">
            <a:off x="9800022" y="3223751"/>
            <a:ext cx="4114801" cy="4105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9"/>
          <p:cNvSpPr txBox="1"/>
          <p:nvPr>
            <p:ph idx="11" type="ftr"/>
          </p:nvPr>
        </p:nvSpPr>
        <p:spPr>
          <a:xfrm rot="5400000">
            <a:off x="-1708136" y="3223750"/>
            <a:ext cx="4114800" cy="4105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9"/>
          <p:cNvSpPr txBox="1"/>
          <p:nvPr>
            <p:ph idx="12" type="sldNum"/>
          </p:nvPr>
        </p:nvSpPr>
        <p:spPr>
          <a:xfrm>
            <a:off x="11116340" y="6356350"/>
            <a:ext cx="87186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0"/>
          <p:cNvSpPr txBox="1"/>
          <p:nvPr>
            <p:ph type="title"/>
          </p:nvPr>
        </p:nvSpPr>
        <p:spPr>
          <a:xfrm>
            <a:off x="1346071" y="566278"/>
            <a:ext cx="9512429" cy="96545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orts Mill Goudy"/>
              <a:buNone/>
              <a:defRPr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0"/>
          <p:cNvSpPr txBox="1"/>
          <p:nvPr>
            <p:ph idx="1" type="body"/>
          </p:nvPr>
        </p:nvSpPr>
        <p:spPr>
          <a:xfrm>
            <a:off x="909758" y="2057400"/>
            <a:ext cx="5031521" cy="4119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0861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260"/>
              <a:buChar char="•"/>
              <a:defRPr/>
            </a:lvl1pPr>
            <a:lvl2pPr indent="-30861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60"/>
              <a:buChar char="•"/>
              <a:defRPr/>
            </a:lvl2pPr>
            <a:lvl3pPr indent="-30861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60"/>
              <a:buChar char="•"/>
              <a:defRPr/>
            </a:lvl3pPr>
            <a:lvl4pPr indent="-30861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60"/>
              <a:buChar char="•"/>
              <a:defRPr/>
            </a:lvl4pPr>
            <a:lvl5pPr indent="-30861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6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0"/>
          <p:cNvSpPr txBox="1"/>
          <p:nvPr>
            <p:ph idx="2" type="body"/>
          </p:nvPr>
        </p:nvSpPr>
        <p:spPr>
          <a:xfrm>
            <a:off x="6265408" y="2057401"/>
            <a:ext cx="5016834" cy="41195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0861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260"/>
              <a:buChar char="•"/>
              <a:defRPr/>
            </a:lvl1pPr>
            <a:lvl2pPr indent="-30861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60"/>
              <a:buChar char="•"/>
              <a:defRPr/>
            </a:lvl2pPr>
            <a:lvl3pPr indent="-30861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60"/>
              <a:buChar char="•"/>
              <a:defRPr/>
            </a:lvl3pPr>
            <a:lvl4pPr indent="-30861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60"/>
              <a:buChar char="•"/>
              <a:defRPr/>
            </a:lvl4pPr>
            <a:lvl5pPr indent="-30861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6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0"/>
          <p:cNvSpPr txBox="1"/>
          <p:nvPr>
            <p:ph idx="10" type="dt"/>
          </p:nvPr>
        </p:nvSpPr>
        <p:spPr>
          <a:xfrm rot="5400000">
            <a:off x="9800022" y="3223751"/>
            <a:ext cx="4114801" cy="4105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0"/>
          <p:cNvSpPr txBox="1"/>
          <p:nvPr>
            <p:ph idx="11" type="ftr"/>
          </p:nvPr>
        </p:nvSpPr>
        <p:spPr>
          <a:xfrm rot="5400000">
            <a:off x="-1708136" y="3223750"/>
            <a:ext cx="4114800" cy="4105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0"/>
          <p:cNvSpPr txBox="1"/>
          <p:nvPr>
            <p:ph idx="12" type="sldNum"/>
          </p:nvPr>
        </p:nvSpPr>
        <p:spPr>
          <a:xfrm>
            <a:off x="11116340" y="6356350"/>
            <a:ext cx="87186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/>
          <p:nvPr>
            <p:ph type="title"/>
          </p:nvPr>
        </p:nvSpPr>
        <p:spPr>
          <a:xfrm>
            <a:off x="839788" y="365126"/>
            <a:ext cx="10276552" cy="11493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Sorts Mill Goudy"/>
              <a:buNone/>
              <a:defRPr sz="32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1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80"/>
              <a:buNone/>
              <a:defRPr b="1" i="0" sz="24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6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12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12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1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0861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260"/>
              <a:buChar char="•"/>
              <a:defRPr/>
            </a:lvl1pPr>
            <a:lvl2pPr indent="-30861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60"/>
              <a:buChar char="•"/>
              <a:defRPr/>
            </a:lvl2pPr>
            <a:lvl3pPr indent="-30861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60"/>
              <a:buChar char="•"/>
              <a:defRPr/>
            </a:lvl3pPr>
            <a:lvl4pPr indent="-30861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60"/>
              <a:buChar char="•"/>
              <a:defRPr/>
            </a:lvl4pPr>
            <a:lvl5pPr indent="-30861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6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1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8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6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12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12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1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0861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260"/>
              <a:buChar char="•"/>
              <a:defRPr/>
            </a:lvl1pPr>
            <a:lvl2pPr indent="-30861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60"/>
              <a:buChar char="•"/>
              <a:defRPr/>
            </a:lvl2pPr>
            <a:lvl3pPr indent="-30861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60"/>
              <a:buChar char="•"/>
              <a:defRPr/>
            </a:lvl3pPr>
            <a:lvl4pPr indent="-30861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60"/>
              <a:buChar char="•"/>
              <a:defRPr/>
            </a:lvl4pPr>
            <a:lvl5pPr indent="-30861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6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1"/>
          <p:cNvSpPr txBox="1"/>
          <p:nvPr>
            <p:ph idx="10" type="dt"/>
          </p:nvPr>
        </p:nvSpPr>
        <p:spPr>
          <a:xfrm rot="5400000">
            <a:off x="9800022" y="3223751"/>
            <a:ext cx="4114801" cy="4105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1"/>
          <p:cNvSpPr txBox="1"/>
          <p:nvPr>
            <p:ph idx="11" type="ftr"/>
          </p:nvPr>
        </p:nvSpPr>
        <p:spPr>
          <a:xfrm rot="5400000">
            <a:off x="-1708136" y="3223750"/>
            <a:ext cx="4114800" cy="4105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11116340" y="6356350"/>
            <a:ext cx="87186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type="title"/>
          </p:nvPr>
        </p:nvSpPr>
        <p:spPr>
          <a:xfrm>
            <a:off x="1371600" y="685800"/>
            <a:ext cx="94869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10" type="dt"/>
          </p:nvPr>
        </p:nvSpPr>
        <p:spPr>
          <a:xfrm rot="5400000">
            <a:off x="9800022" y="3223751"/>
            <a:ext cx="4114801" cy="4105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1" type="ftr"/>
          </p:nvPr>
        </p:nvSpPr>
        <p:spPr>
          <a:xfrm rot="5400000">
            <a:off x="-1708136" y="3223750"/>
            <a:ext cx="4114800" cy="4105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11116340" y="6356350"/>
            <a:ext cx="87186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0" type="dt"/>
          </p:nvPr>
        </p:nvSpPr>
        <p:spPr>
          <a:xfrm rot="5400000">
            <a:off x="9800022" y="3223751"/>
            <a:ext cx="4114801" cy="4105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1" type="ftr"/>
          </p:nvPr>
        </p:nvSpPr>
        <p:spPr>
          <a:xfrm rot="5400000">
            <a:off x="-1708136" y="3223750"/>
            <a:ext cx="4114800" cy="4105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11116340" y="6356350"/>
            <a:ext cx="87186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Sorts Mill Goud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084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240"/>
              <a:buChar char="•"/>
              <a:defRPr sz="3200"/>
            </a:lvl1pPr>
            <a:lvl2pPr indent="-35306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960"/>
              <a:buChar char="•"/>
              <a:defRPr sz="2800"/>
            </a:lvl2pPr>
            <a:lvl3pPr indent="-33528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80"/>
              <a:buChar char="•"/>
              <a:defRPr sz="2400"/>
            </a:lvl3pPr>
            <a:lvl4pPr indent="-3175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 sz="2000"/>
            </a:lvl4pPr>
            <a:lvl5pPr indent="-3175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4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20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8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840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700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7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4"/>
          <p:cNvSpPr txBox="1"/>
          <p:nvPr>
            <p:ph idx="10" type="dt"/>
          </p:nvPr>
        </p:nvSpPr>
        <p:spPr>
          <a:xfrm rot="5400000">
            <a:off x="9800022" y="3223751"/>
            <a:ext cx="4114801" cy="4105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1" type="ftr"/>
          </p:nvPr>
        </p:nvSpPr>
        <p:spPr>
          <a:xfrm rot="5400000">
            <a:off x="-1708136" y="3223750"/>
            <a:ext cx="4114800" cy="4105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11116340" y="6356350"/>
            <a:ext cx="87186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Sorts Mill Goud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5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20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8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840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700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7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 rot="5400000">
            <a:off x="9800022" y="3223751"/>
            <a:ext cx="4114801" cy="4105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 rot="5400000">
            <a:off x="-1708136" y="3223750"/>
            <a:ext cx="4114800" cy="4105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11116340" y="6356350"/>
            <a:ext cx="87186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1371600" y="685800"/>
            <a:ext cx="94869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 rot="5400000">
            <a:off x="4156001" y="-530298"/>
            <a:ext cx="3918098" cy="94869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0861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260"/>
              <a:buChar char="•"/>
              <a:defRPr/>
            </a:lvl1pPr>
            <a:lvl2pPr indent="-30861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60"/>
              <a:buChar char="•"/>
              <a:defRPr/>
            </a:lvl2pPr>
            <a:lvl3pPr indent="-30861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60"/>
              <a:buChar char="•"/>
              <a:defRPr/>
            </a:lvl3pPr>
            <a:lvl4pPr indent="-30861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60"/>
              <a:buChar char="•"/>
              <a:defRPr/>
            </a:lvl4pPr>
            <a:lvl5pPr indent="-30861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6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 rot="5400000">
            <a:off x="9800022" y="3223751"/>
            <a:ext cx="4114801" cy="4105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 rot="5400000">
            <a:off x="-1708136" y="3223750"/>
            <a:ext cx="4114800" cy="4105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11116340" y="6356350"/>
            <a:ext cx="87186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0861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260"/>
              <a:buChar char="•"/>
              <a:defRPr/>
            </a:lvl1pPr>
            <a:lvl2pPr indent="-30861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60"/>
              <a:buChar char="•"/>
              <a:defRPr/>
            </a:lvl2pPr>
            <a:lvl3pPr indent="-30861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60"/>
              <a:buChar char="•"/>
              <a:defRPr/>
            </a:lvl3pPr>
            <a:lvl4pPr indent="-30861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60"/>
              <a:buChar char="•"/>
              <a:defRPr/>
            </a:lvl4pPr>
            <a:lvl5pPr indent="-30861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6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0" type="dt"/>
          </p:nvPr>
        </p:nvSpPr>
        <p:spPr>
          <a:xfrm rot="5400000">
            <a:off x="9800022" y="3223751"/>
            <a:ext cx="4114801" cy="4105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1" type="ftr"/>
          </p:nvPr>
        </p:nvSpPr>
        <p:spPr>
          <a:xfrm rot="5400000">
            <a:off x="-1708136" y="3223750"/>
            <a:ext cx="4114800" cy="4105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2" type="sldNum"/>
          </p:nvPr>
        </p:nvSpPr>
        <p:spPr>
          <a:xfrm>
            <a:off x="11116340" y="6356350"/>
            <a:ext cx="87186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/>
          <p:nvPr>
            <p:ph type="title"/>
          </p:nvPr>
        </p:nvSpPr>
        <p:spPr>
          <a:xfrm>
            <a:off x="1371600" y="685800"/>
            <a:ext cx="94869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orts Mill Goudy"/>
              <a:buNone/>
              <a:defRPr b="0" i="0" sz="3600" u="none" cap="none" strike="noStrike">
                <a:solidFill>
                  <a:schemeClr val="dk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6"/>
          <p:cNvSpPr txBox="1"/>
          <p:nvPr>
            <p:ph idx="1" type="body"/>
          </p:nvPr>
        </p:nvSpPr>
        <p:spPr>
          <a:xfrm>
            <a:off x="1371599" y="2254103"/>
            <a:ext cx="9486901" cy="3918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528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80"/>
              <a:buFont typeface="Arial"/>
              <a:buChar char="•"/>
              <a:defRPr b="0" i="0" sz="2400" u="none" cap="none" strike="noStrike">
                <a:solidFill>
                  <a:schemeClr val="dk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2000" u="none" cap="none" strike="noStrike">
                <a:solidFill>
                  <a:schemeClr val="dk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2pPr>
            <a:lvl3pPr indent="-30861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60"/>
              <a:buFont typeface="Arial"/>
              <a:buChar char="•"/>
              <a:defRPr b="0" i="0" sz="1800" u="none" cap="none" strike="noStrike">
                <a:solidFill>
                  <a:schemeClr val="dk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3pPr>
            <a:lvl4pPr indent="-299719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Arial"/>
              <a:buChar char="•"/>
              <a:defRPr b="0" i="0" sz="1600" u="none" cap="none" strike="noStrike">
                <a:solidFill>
                  <a:schemeClr val="dk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4pPr>
            <a:lvl5pPr indent="-29972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Arial"/>
              <a:buChar char="•"/>
              <a:defRPr b="0" i="0" sz="1600" u="none" cap="none" strike="noStrike">
                <a:solidFill>
                  <a:schemeClr val="dk2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8" name="Google Shape;8;p6"/>
          <p:cNvSpPr txBox="1"/>
          <p:nvPr>
            <p:ph idx="10" type="dt"/>
          </p:nvPr>
        </p:nvSpPr>
        <p:spPr>
          <a:xfrm rot="5400000">
            <a:off x="9800022" y="3223751"/>
            <a:ext cx="4114801" cy="4105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48638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9" name="Google Shape;9;p6"/>
          <p:cNvSpPr txBox="1"/>
          <p:nvPr>
            <p:ph idx="11" type="ftr"/>
          </p:nvPr>
        </p:nvSpPr>
        <p:spPr>
          <a:xfrm rot="5400000">
            <a:off x="-1708136" y="3223750"/>
            <a:ext cx="4114800" cy="4105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48638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0" name="Google Shape;10;p6"/>
          <p:cNvSpPr txBox="1"/>
          <p:nvPr>
            <p:ph idx="12" type="sldNum"/>
          </p:nvPr>
        </p:nvSpPr>
        <p:spPr>
          <a:xfrm>
            <a:off x="11116340" y="6356350"/>
            <a:ext cx="87186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48638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48638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48638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48638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48638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48638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48638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48638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48638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6781800" y="685800"/>
            <a:ext cx="4724400" cy="5486400"/>
          </a:xfrm>
          <a:prstGeom prst="rect">
            <a:avLst/>
          </a:prstGeom>
          <a:solidFill>
            <a:srgbClr val="4863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Vista dal basso di nuvole nel cielo" id="86" name="Google Shape;86;p1"/>
          <p:cNvPicPr preferRelativeResize="0"/>
          <p:nvPr/>
        </p:nvPicPr>
        <p:blipFill rotWithShape="1">
          <a:blip r:embed="rId3">
            <a:alphaModFix/>
          </a:blip>
          <a:srcRect b="-1" l="19615" r="21050" t="0"/>
          <a:stretch/>
        </p:blipFill>
        <p:spPr>
          <a:xfrm>
            <a:off x="0" y="10"/>
            <a:ext cx="12191999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"/>
          <p:cNvSpPr/>
          <p:nvPr/>
        </p:nvSpPr>
        <p:spPr>
          <a:xfrm>
            <a:off x="685800" y="685800"/>
            <a:ext cx="8915400" cy="2994096"/>
          </a:xfrm>
          <a:prstGeom prst="cloudCallout">
            <a:avLst>
              <a:gd fmla="val -31883" name="adj1"/>
              <a:gd fmla="val 84302" name="adj2"/>
            </a:avLst>
          </a:prstGeom>
          <a:gradFill>
            <a:gsLst>
              <a:gs pos="0">
                <a:srgbClr val="6D5947"/>
              </a:gs>
              <a:gs pos="50000">
                <a:srgbClr val="9E8167"/>
              </a:gs>
              <a:gs pos="100000">
                <a:srgbClr val="BE9B7B"/>
              </a:gs>
            </a:gsLst>
            <a:path path="circle">
              <a:fillToRect b="50%" l="50%" r="50%" t="50%"/>
            </a:path>
            <a:tileRect/>
          </a:gradFill>
          <a:ln cap="flat" cmpd="sng" w="76200">
            <a:solidFill>
              <a:srgbClr val="32465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ar-SA" sz="4000" u="none" cap="none" strike="noStrike">
                <a:solidFill>
                  <a:schemeClr val="lt1"/>
                </a:solidFill>
                <a:latin typeface="Algerian"/>
                <a:ea typeface="Algerian"/>
                <a:cs typeface="Algerian"/>
                <a:sym typeface="Algerian"/>
              </a:rPr>
              <a:t>اَلضَّمَائِر الْمُتَّصِلَة</a:t>
            </a:r>
            <a:endParaRPr b="0" i="0" sz="4000" u="none" cap="none" strike="noStrike">
              <a:solidFill>
                <a:schemeClr val="lt1"/>
              </a:solidFill>
              <a:latin typeface="Algerian"/>
              <a:ea typeface="Algerian"/>
              <a:cs typeface="Algerian"/>
              <a:sym typeface="Algeri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ar-SA" sz="4000" u="none" cap="none" strike="noStrike">
                <a:solidFill>
                  <a:schemeClr val="lt1"/>
                </a:solidFill>
                <a:latin typeface="Algerian"/>
                <a:ea typeface="Algerian"/>
                <a:cs typeface="Algerian"/>
                <a:sym typeface="Algerian"/>
              </a:rPr>
              <a:t>Les pronoms suffixes</a:t>
            </a:r>
            <a:endParaRPr b="0" i="0" sz="4000" u="none" cap="none" strike="noStrike">
              <a:solidFill>
                <a:schemeClr val="lt1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0" y="0"/>
            <a:ext cx="12192000" cy="6858000"/>
          </a:xfrm>
          <a:prstGeom prst="bevel">
            <a:avLst>
              <a:gd fmla="val 12500" name="adj"/>
            </a:avLst>
          </a:prstGeom>
          <a:solidFill>
            <a:schemeClr val="accent1"/>
          </a:solidFill>
          <a:ln cap="flat" cmpd="sng" w="12700">
            <a:solidFill>
              <a:srgbClr val="87715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3" name="Google Shape;93;p2"/>
          <p:cNvSpPr/>
          <p:nvPr/>
        </p:nvSpPr>
        <p:spPr>
          <a:xfrm>
            <a:off x="848308" y="869730"/>
            <a:ext cx="1706050" cy="5118537"/>
          </a:xfrm>
          <a:prstGeom prst="rect">
            <a:avLst/>
          </a:prstGeom>
          <a:solidFill>
            <a:srgbClr val="BDC9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ar-SA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je</a:t>
            </a:r>
            <a:endParaRPr/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ar-SA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 (m)</a:t>
            </a:r>
            <a:endParaRPr/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ar-SA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 (f)</a:t>
            </a:r>
            <a:endParaRPr/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ar-SA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il</a:t>
            </a:r>
            <a:endParaRPr/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ar-SA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elle</a:t>
            </a:r>
            <a:endParaRPr/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ar-SA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nous</a:t>
            </a:r>
            <a:endParaRPr/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ar-SA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vous</a:t>
            </a:r>
            <a:endParaRPr b="0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ar-SA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ils</a:t>
            </a:r>
            <a:endParaRPr b="0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" name="Google Shape;94;p2"/>
          <p:cNvSpPr/>
          <p:nvPr/>
        </p:nvSpPr>
        <p:spPr>
          <a:xfrm>
            <a:off x="2554358" y="869730"/>
            <a:ext cx="2064372" cy="5118538"/>
          </a:xfrm>
          <a:prstGeom prst="rect">
            <a:avLst/>
          </a:prstGeom>
          <a:solidFill>
            <a:srgbClr val="BDC9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ar-SA" sz="36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(أَنَا) </a:t>
            </a:r>
            <a:r>
              <a:rPr b="0" i="0" lang="ar-SA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ي</a:t>
            </a:r>
            <a:endParaRPr b="1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ar-SA" sz="36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(إِنْتَ) </a:t>
            </a:r>
            <a:r>
              <a:rPr b="0" i="0" lang="ar-SA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ك</a:t>
            </a:r>
            <a:endParaRPr b="1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ar-SA" sz="36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(إِنْتِ) </a:t>
            </a:r>
            <a:r>
              <a:rPr b="0" i="0" lang="ar-SA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ك</a:t>
            </a:r>
            <a:endParaRPr b="1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ar-SA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(هُوَ) ُو/ ه</a:t>
            </a:r>
            <a:endParaRPr b="0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ar-SA" sz="36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(هِيَ) </a:t>
            </a:r>
            <a:r>
              <a:rPr b="0" i="0" lang="ar-SA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هَا</a:t>
            </a:r>
            <a:endParaRPr b="1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ar-SA" sz="36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(اِحْنَا) </a:t>
            </a:r>
            <a:r>
              <a:rPr b="0" i="0" lang="ar-SA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نَا</a:t>
            </a:r>
            <a:endParaRPr b="1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ar-SA" sz="36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(إِنْتُو) </a:t>
            </a:r>
            <a:r>
              <a:rPr b="0" i="0" lang="ar-SA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كُو</a:t>
            </a:r>
            <a:endParaRPr b="1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ar-SA" sz="36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(هُمَّا) </a:t>
            </a:r>
            <a:r>
              <a:rPr b="0" i="0" lang="ar-SA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هُم</a:t>
            </a:r>
            <a:endParaRPr b="1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/>
          <p:nvPr/>
        </p:nvSpPr>
        <p:spPr>
          <a:xfrm>
            <a:off x="8746435" y="869731"/>
            <a:ext cx="2597257" cy="5118538"/>
          </a:xfrm>
          <a:prstGeom prst="rect">
            <a:avLst/>
          </a:prstGeom>
          <a:solidFill>
            <a:srgbClr val="BDC9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ar-SA" sz="36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(أَنَا) </a:t>
            </a:r>
            <a:r>
              <a:rPr b="0" i="0" lang="ar-SA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مَكْتَبِي</a:t>
            </a:r>
            <a:endParaRPr b="1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ar-SA" sz="36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(إِنْتَ)  </a:t>
            </a:r>
            <a:r>
              <a:rPr b="0" i="0" lang="ar-SA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مَكْتَبَك</a:t>
            </a:r>
            <a:endParaRPr b="1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ar-SA" sz="36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(إِنْتِ) </a:t>
            </a:r>
            <a:r>
              <a:rPr b="0" i="0" lang="ar-SA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مَكْتَبِك</a:t>
            </a:r>
            <a:endParaRPr b="1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ar-SA" sz="36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(هُوَ) </a:t>
            </a:r>
            <a:r>
              <a:rPr b="0" i="0" lang="ar-SA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مَكْتَبُو</a:t>
            </a:r>
            <a:endParaRPr b="0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ar-SA" sz="36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(هِيَ) </a:t>
            </a:r>
            <a:r>
              <a:rPr b="0" i="0" lang="ar-SA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مَكْتَبْهَا</a:t>
            </a:r>
            <a:endParaRPr b="1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ar-SA" sz="36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(اِحْنَا) </a:t>
            </a:r>
            <a:r>
              <a:rPr b="0" i="0" lang="ar-SA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مَكْتَبْنَا</a:t>
            </a:r>
            <a:endParaRPr b="1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ar-SA" sz="36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(إِنْتُو) </a:t>
            </a:r>
            <a:r>
              <a:rPr b="0" i="0" lang="ar-SA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مَكْتَبْكُو</a:t>
            </a:r>
            <a:endParaRPr b="1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ar-SA" sz="36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(هُمَّا) </a:t>
            </a:r>
            <a:r>
              <a:rPr b="0" i="0" lang="ar-SA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مَكْتَبْهُم</a:t>
            </a:r>
            <a:endParaRPr b="1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" name="Google Shape;96;p2"/>
          <p:cNvSpPr/>
          <p:nvPr/>
        </p:nvSpPr>
        <p:spPr>
          <a:xfrm>
            <a:off x="6096000" y="869730"/>
            <a:ext cx="2597257" cy="5118538"/>
          </a:xfrm>
          <a:prstGeom prst="rect">
            <a:avLst/>
          </a:prstGeom>
          <a:solidFill>
            <a:srgbClr val="BDC9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ar-SA" sz="36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(أَنَا) </a:t>
            </a:r>
            <a:r>
              <a:rPr b="0" i="0" lang="ar-SA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مِحْفَظْتِي</a:t>
            </a:r>
            <a:endParaRPr b="1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ar-SA" sz="36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(إِنْتَ) </a:t>
            </a:r>
            <a:r>
              <a:rPr b="0" i="0" lang="ar-SA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مِحْفَظْتَك</a:t>
            </a:r>
            <a:endParaRPr b="1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ar-SA" sz="36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(إِنْتِ) </a:t>
            </a:r>
            <a:r>
              <a:rPr b="0" i="0" lang="ar-SA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مِحْفَظْتِك</a:t>
            </a:r>
            <a:endParaRPr b="1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ar-SA" sz="36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(هُوَ) </a:t>
            </a:r>
            <a:r>
              <a:rPr b="0" i="0" lang="ar-SA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مِحْفَظْتُو </a:t>
            </a:r>
            <a:r>
              <a:rPr b="0" i="0" lang="ar-SA" sz="36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(هِيَ) </a:t>
            </a:r>
            <a:r>
              <a:rPr b="0" i="0" lang="ar-SA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مِحْفَظِتْهَا</a:t>
            </a:r>
            <a:endParaRPr b="1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ar-SA" sz="36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(اِحْنَا) </a:t>
            </a:r>
            <a:r>
              <a:rPr b="0" i="0" lang="ar-SA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مِحْفَظِتْنَا</a:t>
            </a:r>
            <a:endParaRPr b="1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ar-SA" sz="36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(إِنْتُو) </a:t>
            </a:r>
            <a:r>
              <a:rPr b="0" i="0" lang="ar-SA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مِحْفَظِتْكُو</a:t>
            </a:r>
            <a:endParaRPr b="1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ar-SA" sz="36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(هُمَّا) </a:t>
            </a:r>
            <a:r>
              <a:rPr b="0" i="0" lang="ar-SA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مِحْفَظِتْهُم</a:t>
            </a:r>
            <a:endParaRPr b="1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/>
          <p:cNvSpPr/>
          <p:nvPr/>
        </p:nvSpPr>
        <p:spPr>
          <a:xfrm>
            <a:off x="0" y="0"/>
            <a:ext cx="12192000" cy="6858000"/>
          </a:xfrm>
          <a:prstGeom prst="bevel">
            <a:avLst>
              <a:gd fmla="val 12500" name="adj"/>
            </a:avLst>
          </a:prstGeom>
          <a:solidFill>
            <a:schemeClr val="accent1"/>
          </a:solidFill>
          <a:ln cap="flat" cmpd="sng" w="12700">
            <a:solidFill>
              <a:srgbClr val="87715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848308" y="869730"/>
            <a:ext cx="1706050" cy="5118537"/>
          </a:xfrm>
          <a:prstGeom prst="rect">
            <a:avLst/>
          </a:prstGeom>
          <a:solidFill>
            <a:srgbClr val="BDC9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ar-SA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je</a:t>
            </a:r>
            <a:endParaRPr/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ar-SA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 (m)</a:t>
            </a:r>
            <a:endParaRPr/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ar-SA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 (f)</a:t>
            </a:r>
            <a:endParaRPr/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ar-SA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il</a:t>
            </a:r>
            <a:endParaRPr/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ar-SA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elle</a:t>
            </a:r>
            <a:endParaRPr/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ar-SA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nous</a:t>
            </a:r>
            <a:endParaRPr/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ar-SA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vous</a:t>
            </a:r>
            <a:endParaRPr b="0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ar-SA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ils</a:t>
            </a:r>
            <a:endParaRPr b="0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2554358" y="869730"/>
            <a:ext cx="2064372" cy="5118538"/>
          </a:xfrm>
          <a:prstGeom prst="rect">
            <a:avLst/>
          </a:prstGeom>
          <a:solidFill>
            <a:srgbClr val="BDC9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ar-SA" sz="36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(أَنَا) </a:t>
            </a:r>
            <a:r>
              <a:rPr b="0" i="0" lang="ar-SA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ي</a:t>
            </a:r>
            <a:endParaRPr b="1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ar-SA" sz="36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(إِنْتَ) </a:t>
            </a:r>
            <a:r>
              <a:rPr b="0" i="0" lang="ar-SA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ك</a:t>
            </a:r>
            <a:endParaRPr b="1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ar-SA" sz="36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(إِنْتِ) </a:t>
            </a:r>
            <a:r>
              <a:rPr b="0" i="0" lang="ar-SA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ك</a:t>
            </a:r>
            <a:endParaRPr b="1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ar-SA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(هُوَ) ُو/ ه</a:t>
            </a:r>
            <a:endParaRPr b="0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ar-SA" sz="36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(هِيَ) </a:t>
            </a:r>
            <a:r>
              <a:rPr b="0" i="0" lang="ar-SA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هَا</a:t>
            </a:r>
            <a:endParaRPr b="1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ar-SA" sz="36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(اِحْنَا) </a:t>
            </a:r>
            <a:r>
              <a:rPr b="0" i="0" lang="ar-SA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نَا</a:t>
            </a:r>
            <a:endParaRPr b="1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ar-SA" sz="36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(إِنْتُو) </a:t>
            </a:r>
            <a:r>
              <a:rPr b="0" i="0" lang="ar-SA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كُو</a:t>
            </a:r>
            <a:endParaRPr b="1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ar-SA" sz="36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(هُمَّا) </a:t>
            </a:r>
            <a:r>
              <a:rPr b="0" i="0" lang="ar-SA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هُم</a:t>
            </a:r>
            <a:endParaRPr b="1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8746435" y="869731"/>
            <a:ext cx="2597257" cy="5118538"/>
          </a:xfrm>
          <a:prstGeom prst="rect">
            <a:avLst/>
          </a:prstGeom>
          <a:solidFill>
            <a:srgbClr val="BDC9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ar-SA" sz="36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(أَنَا) </a:t>
            </a:r>
            <a:r>
              <a:rPr b="0" i="0" lang="ar-SA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بْتَاعِي</a:t>
            </a:r>
            <a:endParaRPr b="1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ar-SA" sz="36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(إِنْتَ) </a:t>
            </a:r>
            <a:r>
              <a:rPr b="0" i="0" lang="ar-SA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بْتَاعَك</a:t>
            </a:r>
            <a:endParaRPr b="1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ar-SA" sz="36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(إِنْتِ) </a:t>
            </a:r>
            <a:r>
              <a:rPr b="0" i="0" lang="ar-SA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بْتَاعِك</a:t>
            </a:r>
            <a:endParaRPr b="1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ar-SA" sz="36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(هُوَ) </a:t>
            </a:r>
            <a:r>
              <a:rPr b="0" i="0" lang="ar-SA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بْتَاعُو</a:t>
            </a:r>
            <a:endParaRPr b="0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ar-SA" sz="36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(هِيَ) </a:t>
            </a:r>
            <a:r>
              <a:rPr b="0" i="0" lang="ar-SA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بْتَاعْهَا</a:t>
            </a:r>
            <a:endParaRPr b="1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ar-SA" sz="36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(اِحْنَا) </a:t>
            </a:r>
            <a:r>
              <a:rPr b="0" i="0" lang="ar-SA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بْتَاعْنَا</a:t>
            </a:r>
            <a:endParaRPr b="1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ar-SA" sz="36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(إِنْتُو) </a:t>
            </a:r>
            <a:r>
              <a:rPr b="0" i="0" lang="ar-SA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بْتَاعْكُو</a:t>
            </a:r>
            <a:endParaRPr b="1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ar-SA" sz="36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(هُمَّا) </a:t>
            </a:r>
            <a:endParaRPr b="0" i="0" sz="3600" u="none" cap="none" strike="noStrik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ar-SA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بْتَاعْهَا(error)</a:t>
            </a:r>
            <a:endParaRPr b="0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??بْتَاعِهُم</a:t>
            </a:r>
            <a:endParaRPr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6096000" y="869730"/>
            <a:ext cx="2597257" cy="5118538"/>
          </a:xfrm>
          <a:prstGeom prst="rect">
            <a:avLst/>
          </a:prstGeom>
          <a:solidFill>
            <a:srgbClr val="BDC9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ar-SA" sz="36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(أَنَا) </a:t>
            </a:r>
            <a:r>
              <a:rPr b="0" i="0" lang="ar-SA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بْتَاعْتِي</a:t>
            </a:r>
            <a:endParaRPr b="1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ar-SA" sz="36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(إِنْتَ) </a:t>
            </a:r>
            <a:r>
              <a:rPr b="0" i="0" lang="ar-SA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بْتَاعْتَك</a:t>
            </a:r>
            <a:endParaRPr b="1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ar-SA" sz="36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(إِنْتِ) </a:t>
            </a:r>
            <a:r>
              <a:rPr b="0" i="0" lang="ar-SA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بْتَاعْتِك</a:t>
            </a:r>
            <a:endParaRPr b="1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ar-SA" sz="36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(هُوَ) </a:t>
            </a:r>
            <a:r>
              <a:rPr b="0" i="0" lang="ar-SA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بْتَاعْتُو </a:t>
            </a:r>
            <a:r>
              <a:rPr b="0" i="0" lang="ar-SA" sz="36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(هِيَ) </a:t>
            </a:r>
            <a:r>
              <a:rPr b="0" i="0" lang="ar-SA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بْتَاعِتْهَا</a:t>
            </a:r>
            <a:endParaRPr b="1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ar-SA" sz="36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(اِحْنَا) </a:t>
            </a:r>
            <a:r>
              <a:rPr b="0" i="0" lang="ar-SA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بْتَاعِتْنَا</a:t>
            </a:r>
            <a:endParaRPr b="1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ar-SA" sz="36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(إِنْتُو) </a:t>
            </a:r>
            <a:r>
              <a:rPr b="0" i="0" lang="ar-SA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بْتَاعِتْكُو</a:t>
            </a:r>
            <a:endParaRPr b="1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ar-SA" sz="36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(هُمَّا) </a:t>
            </a:r>
            <a:r>
              <a:rPr b="0" i="0" lang="ar-SA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بْتَاعِتْهُم</a:t>
            </a:r>
            <a:endParaRPr b="1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725557" y="69574"/>
            <a:ext cx="10813773" cy="5466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ar-SA" sz="2800" u="none" cap="none" strike="noStrike">
                <a:solidFill>
                  <a:srgbClr val="486381"/>
                </a:solidFill>
                <a:latin typeface="Algerian"/>
                <a:ea typeface="Algerian"/>
                <a:cs typeface="Algerian"/>
                <a:sym typeface="Algerian"/>
              </a:rPr>
              <a:t>Une autre manière d’exprimer la possession</a:t>
            </a:r>
            <a:endParaRPr b="1" i="0" sz="2800" u="none" cap="none" strike="noStrike">
              <a:solidFill>
                <a:srgbClr val="486381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/>
          <p:cNvSpPr/>
          <p:nvPr/>
        </p:nvSpPr>
        <p:spPr>
          <a:xfrm>
            <a:off x="0" y="0"/>
            <a:ext cx="12192000" cy="6858000"/>
          </a:xfrm>
          <a:prstGeom prst="bevel">
            <a:avLst>
              <a:gd fmla="val 12500" name="adj"/>
            </a:avLst>
          </a:prstGeom>
          <a:solidFill>
            <a:schemeClr val="accent1"/>
          </a:solidFill>
          <a:ln cap="flat" cmpd="sng" w="12700">
            <a:solidFill>
              <a:srgbClr val="87715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725557" y="869731"/>
            <a:ext cx="10618135" cy="5118538"/>
          </a:xfrm>
          <a:prstGeom prst="rect">
            <a:avLst/>
          </a:prstGeom>
          <a:solidFill>
            <a:srgbClr val="BDC9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ar-SA" sz="3600" u="none" cap="none" strike="noStrike">
                <a:solidFill>
                  <a:srgbClr val="48638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وَدِّيت الْبَنْطَلُون بْتَاعَك فِين؟</a:t>
            </a:r>
            <a:endParaRPr/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ar-SA" sz="3600" u="none" cap="none" strike="noStrike">
                <a:solidFill>
                  <a:srgbClr val="48638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Où est-ce que tu as mis ton pantalon?</a:t>
            </a:r>
            <a:endParaRPr/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600" u="none" cap="none" strike="noStrike">
              <a:solidFill>
                <a:srgbClr val="48638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ar-SA" sz="3600" u="none" cap="none" strike="noStrike">
                <a:solidFill>
                  <a:srgbClr val="48638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بِيتِي فِي القَاهِرَة حِلْو أَوِي.</a:t>
            </a:r>
            <a:endParaRPr b="1" i="0" sz="3600" u="none" cap="none" strike="noStrike">
              <a:solidFill>
                <a:srgbClr val="48638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ar-SA" sz="3600" u="none" cap="none" strike="noStrike">
                <a:solidFill>
                  <a:srgbClr val="48638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Ma maison au Caire est très belle.</a:t>
            </a:r>
            <a:endParaRPr/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600" u="none" cap="none" strike="noStrike">
              <a:solidFill>
                <a:srgbClr val="48638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ar-SA" sz="3600" u="none" cap="none" strike="noStrike">
                <a:solidFill>
                  <a:srgbClr val="48638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فُسْتَانِك الْجِدِيد قُصَيَّر أَوِي، مُش حَتُخْرُجِي بِه.</a:t>
            </a:r>
            <a:endParaRPr b="1" i="0" sz="3600" u="none" cap="none" strike="noStrike">
              <a:solidFill>
                <a:srgbClr val="48638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ar-SA" sz="3200" u="none" cap="none" strike="noStrike">
                <a:solidFill>
                  <a:srgbClr val="48638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Ta nouvelle robe est très courte, tu ne sortiras pas avec.</a:t>
            </a:r>
            <a:endParaRPr b="1" i="0" sz="3200" u="none" cap="none" strike="noStrike">
              <a:solidFill>
                <a:srgbClr val="48638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725557" y="69574"/>
            <a:ext cx="10813773" cy="5466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ar-SA" sz="2800" u="none" cap="none" strike="noStrike">
                <a:solidFill>
                  <a:srgbClr val="486381"/>
                </a:solidFill>
                <a:latin typeface="Algerian"/>
                <a:ea typeface="Algerian"/>
                <a:cs typeface="Algerian"/>
                <a:sym typeface="Algerian"/>
              </a:rPr>
              <a:t>EXEMPLES				أَمْثِلَة</a:t>
            </a:r>
            <a:endParaRPr b="1" i="0" sz="2800" u="none" cap="none" strike="noStrike">
              <a:solidFill>
                <a:srgbClr val="486381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"/>
          <p:cNvSpPr/>
          <p:nvPr/>
        </p:nvSpPr>
        <p:spPr>
          <a:xfrm>
            <a:off x="0" y="0"/>
            <a:ext cx="12192000" cy="6858000"/>
          </a:xfrm>
          <a:prstGeom prst="bevel">
            <a:avLst>
              <a:gd fmla="val 12500" name="adj"/>
            </a:avLst>
          </a:prstGeom>
          <a:solidFill>
            <a:schemeClr val="accent1"/>
          </a:solidFill>
          <a:ln cap="flat" cmpd="sng" w="12700">
            <a:solidFill>
              <a:srgbClr val="87715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725557" y="869731"/>
            <a:ext cx="10618135" cy="5118538"/>
          </a:xfrm>
          <a:prstGeom prst="rect">
            <a:avLst/>
          </a:prstGeom>
          <a:solidFill>
            <a:srgbClr val="BDC9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ar-SA" sz="3600" u="none" cap="none" strike="noStrike">
                <a:solidFill>
                  <a:srgbClr val="48638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اِتْفَضَّلُو الشَّاي بِتَاعْكُو.</a:t>
            </a:r>
            <a:endParaRPr b="1" i="0" sz="3600" u="none" cap="none" strike="noStrike">
              <a:solidFill>
                <a:srgbClr val="48638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ar-SA" sz="3600" u="none" cap="none" strike="noStrike">
                <a:solidFill>
                  <a:srgbClr val="48638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Prenez votre thé.</a:t>
            </a:r>
            <a:endParaRPr/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600" u="none" cap="none" strike="noStrike">
              <a:solidFill>
                <a:srgbClr val="48638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ar-SA" sz="3600" u="none" cap="none" strike="noStrike">
                <a:solidFill>
                  <a:srgbClr val="48638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 عَرَبِيِّتْكُو جِدِيدَة وِعَايْزِين تِشْتِرُو وَاحْدَة ثَانْيِة؟</a:t>
            </a:r>
            <a:endParaRPr b="1" i="0" sz="3600" u="none" cap="none" strike="noStrike">
              <a:solidFill>
                <a:srgbClr val="48638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ar-SA" sz="2800" u="none" cap="none" strike="noStrike">
                <a:solidFill>
                  <a:srgbClr val="48638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 Votre voiture est nouvelle et vous voulez en acheter une autre?</a:t>
            </a:r>
            <a:endParaRPr b="1" i="0" sz="2800" u="none" cap="none" strike="noStrike">
              <a:solidFill>
                <a:srgbClr val="48638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600" u="none" cap="none" strike="noStrike">
              <a:solidFill>
                <a:srgbClr val="48638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ar-SA" sz="3600" u="none" cap="none" strike="noStrike">
                <a:solidFill>
                  <a:srgbClr val="48638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6. رُحْت لْنَادْيَا وْلَقِيت عَنْدَها أُمَّهَا.</a:t>
            </a:r>
            <a:endParaRPr/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ar-SA" sz="3200" u="none" cap="none" strike="noStrike">
                <a:solidFill>
                  <a:srgbClr val="48638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6. Je suis allée chez Nadia et j’ai trouvé sa mère chez elle.    </a:t>
            </a:r>
            <a:endParaRPr b="1" i="0" sz="3200" u="none" cap="none" strike="noStrike">
              <a:solidFill>
                <a:srgbClr val="48638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725557" y="69574"/>
            <a:ext cx="10813773" cy="5466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ar-SA" sz="2800" u="none" cap="none" strike="noStrike">
                <a:solidFill>
                  <a:srgbClr val="486381"/>
                </a:solidFill>
                <a:latin typeface="Algerian"/>
                <a:ea typeface="Algerian"/>
                <a:cs typeface="Algerian"/>
                <a:sym typeface="Algerian"/>
              </a:rPr>
              <a:t>EXEMPLES				أَمْثِلَة</a:t>
            </a:r>
            <a:endParaRPr b="1" i="0" sz="2800" u="none" cap="none" strike="noStrike">
              <a:solidFill>
                <a:srgbClr val="486381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lassicFrameVTI">
  <a:themeElements>
    <a:clrScheme name="AnalogousFromLightSeedLeftStep">
      <a:dk1>
        <a:srgbClr val="000000"/>
      </a:dk1>
      <a:lt1>
        <a:srgbClr val="FFFFFF"/>
      </a:lt1>
      <a:dk2>
        <a:srgbClr val="243241"/>
      </a:dk2>
      <a:lt2>
        <a:srgbClr val="E2E5E8"/>
      </a:lt2>
      <a:accent1>
        <a:srgbClr val="BA9C80"/>
      </a:accent1>
      <a:accent2>
        <a:srgbClr val="BA827F"/>
      </a:accent2>
      <a:accent3>
        <a:srgbClr val="C594A6"/>
      </a:accent3>
      <a:accent4>
        <a:srgbClr val="BA7FAD"/>
      </a:accent4>
      <a:accent5>
        <a:srgbClr val="BC94C5"/>
      </a:accent5>
      <a:accent6>
        <a:srgbClr val="967FBA"/>
      </a:accent6>
      <a:hlink>
        <a:srgbClr val="5E85A8"/>
      </a:hlink>
      <a:folHlink>
        <a:srgbClr val="7F7F7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2023-03-24T14:03:13Z</dcterms:created>
  <dc:creator>Leila Alami</dc:creator>
</cp:coreProperties>
</file>