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327"/>
  </p:normalViewPr>
  <p:slideViewPr>
    <p:cSldViewPr snapToGrid="0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A7947-E287-4738-8C82-07CE4F01EF03}" type="datetime2">
              <a:rPr lang="en-US" smtClean="0"/>
              <a:t>Tuesday, May 16, 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24500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8C025-CD7A-4966-867E-81CF82B15267}" type="datetime2">
              <a:rPr lang="en-US" smtClean="0"/>
              <a:t>Tuesday, May 16,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004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4644CBB8-40B8-42F8-9172-07A476341DDA}"/>
              </a:ext>
            </a:extLst>
          </p:cNvPr>
          <p:cNvGrpSpPr/>
          <p:nvPr/>
        </p:nvGrpSpPr>
        <p:grpSpPr>
          <a:xfrm>
            <a:off x="356481" y="879007"/>
            <a:ext cx="734257" cy="760506"/>
            <a:chOff x="5243759" y="1363788"/>
            <a:chExt cx="734257" cy="760506"/>
          </a:xfrm>
        </p:grpSpPr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5CE073E-302A-4AA7-98C7-8667DDDCFA1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4FD1AE2F-DD70-4E93-B905-E052A23F0B1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E8D529E5-8838-47F0-98A4-2D46F11E499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5DA2564-D3DB-48AD-83F0-6CC6B574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63" y="474345"/>
            <a:ext cx="11077574" cy="2954655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64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9929-0719-4517-94D6-FDF7F99E70F6}" type="datetime2">
              <a:rPr lang="en-US" smtClean="0"/>
              <a:t>Tuesday, May 16,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A752-36DA-440B-8747-0EB291408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271" y="3629772"/>
            <a:ext cx="11074866" cy="26789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BCC02B0-8581-4752-B7BC-3CE1EF17B9F7}"/>
              </a:ext>
            </a:extLst>
          </p:cNvPr>
          <p:cNvSpPr>
            <a:spLocks noChangeAspect="1"/>
          </p:cNvSpPr>
          <p:nvPr/>
        </p:nvSpPr>
        <p:spPr>
          <a:xfrm rot="18900000">
            <a:off x="11209132" y="4448189"/>
            <a:ext cx="999200" cy="1262947"/>
          </a:xfrm>
          <a:custGeom>
            <a:avLst/>
            <a:gdLst>
              <a:gd name="connsiteX0" fmla="*/ 540000 w 999200"/>
              <a:gd name="connsiteY0" fmla="*/ 0 h 1262947"/>
              <a:gd name="connsiteX1" fmla="*/ 999200 w 999200"/>
              <a:gd name="connsiteY1" fmla="*/ 815317 h 1262947"/>
              <a:gd name="connsiteX2" fmla="*/ 552185 w 999200"/>
              <a:gd name="connsiteY2" fmla="*/ 1262333 h 1262947"/>
              <a:gd name="connsiteX3" fmla="*/ 540000 w 999200"/>
              <a:gd name="connsiteY3" fmla="*/ 1262947 h 1262947"/>
              <a:gd name="connsiteX4" fmla="*/ 0 w 999200"/>
              <a:gd name="connsiteY4" fmla="*/ 992947 h 1262947"/>
              <a:gd name="connsiteX5" fmla="*/ 10971 w 999200"/>
              <a:gd name="connsiteY5" fmla="*/ 938533 h 1262947"/>
              <a:gd name="connsiteX6" fmla="*/ 15626 w 999200"/>
              <a:gd name="connsiteY6" fmla="*/ 931034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9200" h="1262947">
                <a:moveTo>
                  <a:pt x="540000" y="0"/>
                </a:moveTo>
                <a:lnTo>
                  <a:pt x="999200" y="815317"/>
                </a:lnTo>
                <a:lnTo>
                  <a:pt x="552185" y="1262333"/>
                </a:lnTo>
                <a:lnTo>
                  <a:pt x="540000" y="1262947"/>
                </a:ln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10200000" scaled="0"/>
          </a:gradFill>
          <a:ln>
            <a:noFill/>
          </a:ln>
          <a:effectLst>
            <a:innerShdw blurRad="254000" dist="101600" dir="42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A0FF4DB-8180-4D26-AEAE-7ECDB670F71D}"/>
              </a:ext>
            </a:extLst>
          </p:cNvPr>
          <p:cNvSpPr/>
          <p:nvPr/>
        </p:nvSpPr>
        <p:spPr>
          <a:xfrm rot="2700000">
            <a:off x="11686937" y="4853516"/>
            <a:ext cx="540000" cy="978284"/>
          </a:xfrm>
          <a:custGeom>
            <a:avLst/>
            <a:gdLst>
              <a:gd name="connsiteX0" fmla="*/ 113288 w 540000"/>
              <a:gd name="connsiteY0" fmla="*/ 0 h 978284"/>
              <a:gd name="connsiteX1" fmla="*/ 539386 w 540000"/>
              <a:gd name="connsiteY1" fmla="*/ 426099 h 978284"/>
              <a:gd name="connsiteX2" fmla="*/ 540000 w 540000"/>
              <a:gd name="connsiteY2" fmla="*/ 438284 h 978284"/>
              <a:gd name="connsiteX3" fmla="*/ 270000 w 540000"/>
              <a:gd name="connsiteY3" fmla="*/ 978284 h 978284"/>
              <a:gd name="connsiteX4" fmla="*/ 0 w 540000"/>
              <a:gd name="connsiteY4" fmla="*/ 438284 h 978284"/>
              <a:gd name="connsiteX5" fmla="*/ 79081 w 540000"/>
              <a:gd name="connsiteY5" fmla="*/ 56446 h 978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000" h="978284">
                <a:moveTo>
                  <a:pt x="113288" y="0"/>
                </a:moveTo>
                <a:lnTo>
                  <a:pt x="539386" y="426099"/>
                </a:lnTo>
                <a:lnTo>
                  <a:pt x="540000" y="438284"/>
                </a:lnTo>
                <a:cubicBezTo>
                  <a:pt x="540000" y="736518"/>
                  <a:pt x="419117" y="978284"/>
                  <a:pt x="270000" y="978284"/>
                </a:cubicBezTo>
                <a:cubicBezTo>
                  <a:pt x="120883" y="978284"/>
                  <a:pt x="0" y="736518"/>
                  <a:pt x="0" y="438284"/>
                </a:cubicBezTo>
                <a:cubicBezTo>
                  <a:pt x="0" y="289167"/>
                  <a:pt x="30220" y="154167"/>
                  <a:pt x="79081" y="56446"/>
                </a:cubicBezTo>
                <a:close/>
              </a:path>
            </a:pathLst>
          </a:cu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58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95673-5512-4AAA-9AEB-E00C61EC65D5}" type="datetime2">
              <a:rPr lang="en-US" smtClean="0"/>
              <a:t>Tuesday, May 16, 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298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881275"/>
            <a:ext cx="5437186" cy="535354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577270"/>
            <a:ext cx="5429114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881275"/>
            <a:ext cx="5436392" cy="535354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577270"/>
            <a:ext cx="5436391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138FA-2E87-4873-8BBA-13E447C9A99A}" type="datetime2">
              <a:rPr lang="en-US" smtClean="0"/>
              <a:t>Tuesday, May 16, 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835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149" y="550799"/>
            <a:ext cx="8283313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51F65-E111-4656-83BE-CFCDE2DD6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B40A-97BD-4BFB-B639-0BFF95FDE8B7}" type="datetime2">
              <a:rPr lang="en-US" smtClean="0"/>
              <a:t>Tuesday, May 16, 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F82CB-2D17-4918-821E-485475CF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6589D-A056-4817-AE15-39D87FE1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‹N›</a:t>
            </a:fld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489F067-39E1-4757-BC11-6169A343F2E1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10727" y="3958416"/>
            <a:ext cx="3536330" cy="1853969"/>
          </a:xfrm>
          <a:custGeom>
            <a:avLst/>
            <a:gdLst>
              <a:gd name="connsiteX0" fmla="*/ 3536330 w 3536330"/>
              <a:gd name="connsiteY0" fmla="*/ 1853969 h 1853969"/>
              <a:gd name="connsiteX1" fmla="*/ 1682362 w 3536330"/>
              <a:gd name="connsiteY1" fmla="*/ 0 h 1853969"/>
              <a:gd name="connsiteX2" fmla="*/ 52157 w 3536330"/>
              <a:gd name="connsiteY2" fmla="*/ 970257 h 1853969"/>
              <a:gd name="connsiteX3" fmla="*/ 0 w 3536330"/>
              <a:gd name="connsiteY3" fmla="*/ 1078528 h 1853969"/>
              <a:gd name="connsiteX4" fmla="*/ 757215 w 3536330"/>
              <a:gd name="connsiteY4" fmla="*/ 1835743 h 1853969"/>
              <a:gd name="connsiteX5" fmla="*/ 774211 w 3536330"/>
              <a:gd name="connsiteY5" fmla="*/ 1667149 h 1853969"/>
              <a:gd name="connsiteX6" fmla="*/ 1682362 w 3536330"/>
              <a:gd name="connsiteY6" fmla="*/ 926985 h 1853969"/>
              <a:gd name="connsiteX7" fmla="*/ 2609345 w 3536330"/>
              <a:gd name="connsiteY7" fmla="*/ 1853969 h 1853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6330" h="1853969">
                <a:moveTo>
                  <a:pt x="3536330" y="1853969"/>
                </a:moveTo>
                <a:cubicBezTo>
                  <a:pt x="3536330" y="830051"/>
                  <a:pt x="2706280" y="0"/>
                  <a:pt x="1682362" y="0"/>
                </a:cubicBezTo>
                <a:cubicBezTo>
                  <a:pt x="978418" y="0"/>
                  <a:pt x="366107" y="392328"/>
                  <a:pt x="52157" y="970257"/>
                </a:cubicBezTo>
                <a:lnTo>
                  <a:pt x="0" y="1078528"/>
                </a:lnTo>
                <a:lnTo>
                  <a:pt x="757215" y="1835743"/>
                </a:lnTo>
                <a:lnTo>
                  <a:pt x="774211" y="1667149"/>
                </a:lnTo>
                <a:cubicBezTo>
                  <a:pt x="860649" y="1244739"/>
                  <a:pt x="1234397" y="926985"/>
                  <a:pt x="1682362" y="926985"/>
                </a:cubicBezTo>
                <a:cubicBezTo>
                  <a:pt x="2194320" y="926985"/>
                  <a:pt x="2609345" y="1342010"/>
                  <a:pt x="2609345" y="1853969"/>
                </a:cubicBezTo>
                <a:close/>
              </a:path>
            </a:pathLst>
          </a:custGeom>
          <a:gradFill flip="none" rotWithShape="1">
            <a:gsLst>
              <a:gs pos="97000">
                <a:schemeClr val="bg2"/>
              </a:gs>
              <a:gs pos="31000">
                <a:schemeClr val="bg2">
                  <a:lumMod val="90000"/>
                  <a:lumOff val="10000"/>
                </a:schemeClr>
              </a:gs>
            </a:gsLst>
            <a:lin ang="15000000" scaled="0"/>
            <a:tileRect/>
          </a:gradFill>
          <a:ln>
            <a:noFill/>
          </a:ln>
          <a:effectLst>
            <a:innerShdw blurRad="355600" dist="101600" dir="16200000">
              <a:schemeClr val="accent1">
                <a:lumMod val="60000"/>
                <a:lumOff val="40000"/>
                <a:alpha val="8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31011-607F-42F1-B2D9-2BA8E91CC6AF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81151" y="3649708"/>
            <a:ext cx="3478701" cy="2164843"/>
          </a:xfrm>
          <a:custGeom>
            <a:avLst/>
            <a:gdLst>
              <a:gd name="connsiteX0" fmla="*/ 3478701 w 3478701"/>
              <a:gd name="connsiteY0" fmla="*/ 2164843 h 2164843"/>
              <a:gd name="connsiteX1" fmla="*/ 1624733 w 3478701"/>
              <a:gd name="connsiteY1" fmla="*/ 0 h 2164843"/>
              <a:gd name="connsiteX2" fmla="*/ 87393 w 3478701"/>
              <a:gd name="connsiteY2" fmla="*/ 954459 h 2164843"/>
              <a:gd name="connsiteX3" fmla="*/ 0 w 3478701"/>
              <a:gd name="connsiteY3" fmla="*/ 1122434 h 2164843"/>
              <a:gd name="connsiteX4" fmla="*/ 736015 w 3478701"/>
              <a:gd name="connsiteY4" fmla="*/ 1858449 h 2164843"/>
              <a:gd name="connsiteX5" fmla="*/ 739424 w 3478701"/>
              <a:gd name="connsiteY5" fmla="*/ 1842964 h 2164843"/>
              <a:gd name="connsiteX6" fmla="*/ 1624733 w 3478701"/>
              <a:gd name="connsiteY6" fmla="*/ 1082422 h 2164843"/>
              <a:gd name="connsiteX7" fmla="*/ 2551716 w 3478701"/>
              <a:gd name="connsiteY7" fmla="*/ 2164843 h 2164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78701" h="2164843">
                <a:moveTo>
                  <a:pt x="3478701" y="2164843"/>
                </a:moveTo>
                <a:cubicBezTo>
                  <a:pt x="3478701" y="969234"/>
                  <a:pt x="2648651" y="0"/>
                  <a:pt x="1624733" y="0"/>
                </a:cubicBezTo>
                <a:cubicBezTo>
                  <a:pt x="984784" y="0"/>
                  <a:pt x="420564" y="378607"/>
                  <a:pt x="87393" y="954459"/>
                </a:cubicBezTo>
                <a:lnTo>
                  <a:pt x="0" y="1122434"/>
                </a:lnTo>
                <a:lnTo>
                  <a:pt x="736015" y="1858449"/>
                </a:lnTo>
                <a:lnTo>
                  <a:pt x="739424" y="1842964"/>
                </a:lnTo>
                <a:cubicBezTo>
                  <a:pt x="856791" y="1402344"/>
                  <a:pt x="1208766" y="1082422"/>
                  <a:pt x="1624733" y="1082422"/>
                </a:cubicBezTo>
                <a:cubicBezTo>
                  <a:pt x="2136692" y="1082422"/>
                  <a:pt x="2551716" y="1567038"/>
                  <a:pt x="2551716" y="2164843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  <a:alpha val="40000"/>
            </a:schemeClr>
          </a:solidFill>
          <a:ln>
            <a:noFill/>
          </a:ln>
          <a:effectLst>
            <a:softEdge rad="381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472EFA-56B5-4A41-8D4B-E9F37727F34D}"/>
              </a:ext>
            </a:extLst>
          </p:cNvPr>
          <p:cNvSpPr/>
          <p:nvPr/>
        </p:nvSpPr>
        <p:spPr>
          <a:xfrm rot="13500000" flipV="1">
            <a:off x="1512277" y="2840042"/>
            <a:ext cx="214196" cy="933178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3781B6C-21AD-489D-A3CB-522BB2AC543F}"/>
              </a:ext>
            </a:extLst>
          </p:cNvPr>
          <p:cNvSpPr>
            <a:spLocks noChangeAspect="1"/>
          </p:cNvSpPr>
          <p:nvPr/>
        </p:nvSpPr>
        <p:spPr>
          <a:xfrm>
            <a:off x="1780661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1AD5B80-530E-44CD-8D4A-2796FB214CBF}"/>
              </a:ext>
            </a:extLst>
          </p:cNvPr>
          <p:cNvGrpSpPr/>
          <p:nvPr/>
        </p:nvGrpSpPr>
        <p:grpSpPr>
          <a:xfrm>
            <a:off x="623181" y="1514007"/>
            <a:ext cx="734257" cy="760506"/>
            <a:chOff x="5243759" y="1363788"/>
            <a:chExt cx="734257" cy="760506"/>
          </a:xfrm>
        </p:grpSpPr>
        <p:sp>
          <p:nvSpPr>
            <p:cNvPr id="52" name="Freeform 5">
              <a:extLst>
                <a:ext uri="{FF2B5EF4-FFF2-40B4-BE49-F238E27FC236}">
                  <a16:creationId xmlns:a16="http://schemas.microsoft.com/office/drawing/2014/main" id="{2F746AA8-9050-4515-9B17-BC850368529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23EC1AC3-1698-46D5-80B7-F22F15E1A5E4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73766156-553C-46EB-93FA-4F37CC0FF5CF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04357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9E0E3-ECF6-4CFE-8698-AEFEBCECC3C0}" type="datetime2">
              <a:rPr lang="en-US" smtClean="0"/>
              <a:t>Tuesday, May 16, 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486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462FC-960E-4740-921F-B36862979F21}" type="datetime2">
              <a:rPr lang="en-US" smtClean="0"/>
              <a:t>Tuesday, May 16, 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932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98F1FBA-F8BB-42CF-8B3E-D19AAFEE96C1}"/>
              </a:ext>
            </a:extLst>
          </p:cNvPr>
          <p:cNvGrpSpPr/>
          <p:nvPr/>
        </p:nvGrpSpPr>
        <p:grpSpPr>
          <a:xfrm>
            <a:off x="334964" y="5115518"/>
            <a:ext cx="734257" cy="760506"/>
            <a:chOff x="5243759" y="1363788"/>
            <a:chExt cx="734257" cy="760506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60EE09DD-C3DB-4266-BCC3-A765CFFBF37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F301FE0-96DC-4EFB-BBEE-AED762C337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3BEAD276-8850-4C0C-9777-8537000D522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5EE0A0-B07E-479B-9684-4BD09FA4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75409"/>
            <a:ext cx="4500562" cy="984885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1893A9-3462-4F51-83AE-5D2F124B9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67324" y="575409"/>
            <a:ext cx="6373813" cy="573331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9240C-79C0-4A88-A476-725DE1B9C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76195"/>
            <a:ext cx="4500562" cy="4532530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C9E2-CB44-4C05-9BB5-496C18A241E0}" type="datetime2">
              <a:rPr lang="en-US" smtClean="0"/>
              <a:t>Tuesday, May 16, 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359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9361-B9A1-48F2-9473-23DE30E2D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03906"/>
            <a:ext cx="11090275" cy="133305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86779-C2F3-447D-85F7-F6B0E2C97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EBD84-71F4-4271-8C46-0D47C0A9B12E}" type="datetime2">
              <a:rPr lang="en-US" smtClean="0"/>
              <a:t>Tuesday, May 16,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054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6583A-514F-4632-820D-E7EE236A4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3CBBB-7DDC-4437-8C7D-22A1C3520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69EBF-DA20-4024-8006-B158D571E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0CE1-F450-4107-B2CB-17B18F8A3F4A}" type="datetime2">
              <a:rPr lang="en-US" smtClean="0"/>
              <a:t>Tuesday, May 16,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AC8B9-14B5-4DF1-994D-AB47DB3B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76582-5F9B-4F5E-AAD5-D608CB68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344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246CB39B-5F4C-4A7E-9BE3-AAFD45576D16}" type="datetime2">
              <a:rPr lang="en-US" smtClean="0"/>
              <a:t>Tuesday, May 16, 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0380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8093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3B57D649-7200-B721-902E-50EBA303434C}"/>
              </a:ext>
            </a:extLst>
          </p:cNvPr>
          <p:cNvSpPr/>
          <p:nvPr/>
        </p:nvSpPr>
        <p:spPr>
          <a:xfrm>
            <a:off x="2031793" y="549275"/>
            <a:ext cx="5437187" cy="29862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b" anchorCtr="0">
            <a:normAutofit/>
          </a:bodyPr>
          <a:lstStyle/>
          <a:p>
            <a:pPr marL="0" algn="ctr">
              <a:spcBef>
                <a:spcPct val="0"/>
              </a:spcBef>
              <a:spcAft>
                <a:spcPts val="600"/>
              </a:spcAft>
            </a:pPr>
            <a:r>
              <a:rPr lang="en-US" sz="6400" b="1" kern="1200" dirty="0" err="1">
                <a:solidFill>
                  <a:schemeClr val="tx1"/>
                </a:solidFill>
                <a:latin typeface="Trattatello" panose="020F0403020200020303" pitchFamily="34" charset="0"/>
                <a:ea typeface="+mj-ea"/>
                <a:cs typeface="+mj-cs"/>
              </a:rPr>
              <a:t>تَرْجَمَة</a:t>
            </a:r>
            <a:endParaRPr lang="en-US" sz="6400" b="1" kern="1200" dirty="0">
              <a:solidFill>
                <a:schemeClr val="tx1"/>
              </a:solidFill>
              <a:latin typeface="Trattatello" panose="020F0403020200020303" pitchFamily="34" charset="0"/>
              <a:ea typeface="+mj-ea"/>
              <a:cs typeface="+mj-cs"/>
            </a:endParaRPr>
          </a:p>
          <a:p>
            <a:pPr marL="0" algn="ctr">
              <a:spcBef>
                <a:spcPct val="0"/>
              </a:spcBef>
              <a:spcAft>
                <a:spcPts val="600"/>
              </a:spcAft>
            </a:pPr>
            <a:r>
              <a:rPr lang="en-US" sz="6400" kern="1200" dirty="0">
                <a:solidFill>
                  <a:schemeClr val="tx1"/>
                </a:solidFill>
                <a:latin typeface="Trattatello" panose="020F0403020200020303" pitchFamily="34" charset="0"/>
                <a:ea typeface="+mj-ea"/>
                <a:cs typeface="+mj-cs"/>
              </a:rPr>
              <a:t>TRADUCTION</a:t>
            </a:r>
          </a:p>
        </p:txBody>
      </p:sp>
      <p:pic>
        <p:nvPicPr>
          <p:cNvPr id="2" name="Picture 3" descr="Arte tridimensionale con onde">
            <a:extLst>
              <a:ext uri="{FF2B5EF4-FFF2-40B4-BE49-F238E27FC236}">
                <a16:creationId xmlns:a16="http://schemas.microsoft.com/office/drawing/2014/main" id="{9970EADA-A994-34A3-08CA-4CC4A969965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682" r="5818" b="-1"/>
          <a:stretch/>
        </p:blipFill>
        <p:spPr>
          <a:xfrm>
            <a:off x="7989679" y="862806"/>
            <a:ext cx="5132388" cy="5132388"/>
          </a:xfrm>
          <a:custGeom>
            <a:avLst/>
            <a:gdLst/>
            <a:ahLst/>
            <a:cxnLst/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73840CF4-F848-4FE0-AEA6-C9E806911B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401880" y="549275"/>
            <a:ext cx="667802" cy="631474"/>
            <a:chOff x="10478914" y="1506691"/>
            <a:chExt cx="667802" cy="631474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4B46153-41DB-494F-9B08-EBCCF27283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7B6D42DA-2D84-4A50-A359-7A5C651B1C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8" name="Oval 27">
            <a:extLst>
              <a:ext uri="{FF2B5EF4-FFF2-40B4-BE49-F238E27FC236}">
                <a16:creationId xmlns:a16="http://schemas.microsoft.com/office/drawing/2014/main" id="{94459D96-B947-4C7F-8BCA-915F8B07C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63884" y="5171203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Arte tridimensionale con onde">
            <a:extLst>
              <a:ext uri="{FF2B5EF4-FFF2-40B4-BE49-F238E27FC236}">
                <a16:creationId xmlns:a16="http://schemas.microsoft.com/office/drawing/2014/main" id="{4B977C38-A816-5E58-F41A-0EE2439334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637" r="2191" b="2"/>
          <a:stretch/>
        </p:blipFill>
        <p:spPr>
          <a:xfrm>
            <a:off x="1" y="10"/>
            <a:ext cx="1480930" cy="6857990"/>
          </a:xfrm>
          <a:custGeom>
            <a:avLst/>
            <a:gdLst/>
            <a:ahLst/>
            <a:cxnLst/>
            <a:rect l="l" t="t" r="r" b="b"/>
            <a:pathLst>
              <a:path w="7448551" h="6858000">
                <a:moveTo>
                  <a:pt x="0" y="0"/>
                </a:moveTo>
                <a:lnTo>
                  <a:pt x="7448551" y="0"/>
                </a:lnTo>
                <a:lnTo>
                  <a:pt x="7448551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216565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592A8CB-0B0A-43A5-86F4-712B0C469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41850" y="444676"/>
            <a:ext cx="667802" cy="631474"/>
            <a:chOff x="10478914" y="1506691"/>
            <a:chExt cx="667802" cy="63147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C63B2AC-3D19-416D-A37F-2DDA8A365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A474391-1271-45F9-A39C-8641371AB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41AC6C06-99FE-4BA1-BC82-8406A424C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AEC842D-C905-4DEA-B1C3-CA51995C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21219" y="5433223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3B57D649-7200-B721-902E-50EBA303434C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l" defTabSz="914400" rtl="0" eaLnBrk="1" latinLnBrk="0" hangingPunct="1"/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suis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homme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arabe,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peu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importe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quelle origine. Je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peux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ê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algérien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kouwe</a:t>
            </a:r>
            <a:r>
              <a:rPr lang="it-IT" sz="3200" b="1" spc="-30" dirty="0" err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ï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tien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libanais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jordanien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saoudien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J’ai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40 ans et je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suis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professeur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langues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étrangères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Je vie en Hollande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depuis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l’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â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18 ans.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J’ai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étudié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à l’université et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eu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liscence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ici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J’enseigne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dans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 écoles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internationales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Mes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étudiants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sont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européens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américains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J’aime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beacoup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ces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deux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mentalités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C’est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étudiants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donnent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envie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travailler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ils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motivent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beaucoup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Ils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sont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sérieux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disciplinés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aussi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savent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ce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qu’ils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veulent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On ne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perd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temps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nous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avons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objectifs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à </a:t>
            </a:r>
            <a:r>
              <a:rPr lang="it-IT" sz="3200" b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atteindre. </a:t>
            </a:r>
            <a:endParaRPr lang="it-IT" sz="32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l" defTabSz="914400" rtl="0" eaLnBrk="1" latinLnBrk="0" hangingPunct="1"/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étudiants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apprécient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moi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j’apprécie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leurs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comportements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Je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suis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très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satifait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tout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ça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39111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592A8CB-0B0A-43A5-86F4-712B0C469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41850" y="444676"/>
            <a:ext cx="667802" cy="631474"/>
            <a:chOff x="10478914" y="1506691"/>
            <a:chExt cx="667802" cy="63147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C63B2AC-3D19-416D-A37F-2DDA8A365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A474391-1271-45F9-A39C-8641371AB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41AC6C06-99FE-4BA1-BC82-8406A424C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AEC842D-C905-4DEA-B1C3-CA51995C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21219" y="5433223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3B57D649-7200-B721-902E-50EBA303434C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l" defTabSz="914400" rtl="0" eaLnBrk="1" latinLnBrk="0" hangingPunct="1"/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suis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homme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arabe,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peu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importe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quelle origine. Je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peux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ê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algérien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kowe</a:t>
            </a:r>
            <a:r>
              <a:rPr lang="it-IT" sz="3200" b="1" spc="-30" dirty="0" err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ï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tien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libanais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jordanien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saoudien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ar-SA" sz="32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l" defTabSz="914400" rtl="0" eaLnBrk="1" latinLnBrk="0" hangingPunct="1"/>
            <a:endParaRPr lang="it-IT" sz="32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r" defTabSz="914400" rtl="0" eaLnBrk="1" latinLnBrk="0" hangingPunct="1"/>
            <a:r>
              <a:rPr lang="ar-SA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أَنَا رَاجِل عَرَبِيّ، مِشْ مُهِمّ أَصْلِي مْنِين. مُمْكِن أَكُون </a:t>
            </a:r>
            <a:r>
              <a:rPr lang="ar-SA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جَزَايْرِي</a:t>
            </a:r>
            <a:r>
              <a:rPr lang="ar-SA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كُوَيْتِي، لِبْنَانِي، أُرْدُنِي، سَعُودِي...</a:t>
            </a:r>
            <a:endParaRPr lang="it-IT" sz="32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7036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592A8CB-0B0A-43A5-86F4-712B0C469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41850" y="444676"/>
            <a:ext cx="667802" cy="631474"/>
            <a:chOff x="10478914" y="1506691"/>
            <a:chExt cx="667802" cy="63147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C63B2AC-3D19-416D-A37F-2DDA8A365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A474391-1271-45F9-A39C-8641371AB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41AC6C06-99FE-4BA1-BC82-8406A424C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AEC842D-C905-4DEA-B1C3-CA51995C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21219" y="5433223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3B57D649-7200-B721-902E-50EBA303434C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l" defTabSz="914400" rtl="0" eaLnBrk="1" latinLnBrk="0" hangingPunct="1"/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J’ai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40 ans et je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suis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professeur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langues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étrangères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algn="l" defTabSz="914400" rtl="0" eaLnBrk="1" latinLnBrk="0" hangingPunct="1"/>
            <a:endParaRPr lang="it-IT" sz="32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l" defTabSz="914400" rtl="0" eaLnBrk="1" latinLnBrk="0" hangingPunct="1"/>
            <a:r>
              <a:rPr lang="ar-SA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عَنْدِي أَرْبَعِين سَنَة وأَنَا أُسْتَاذ لُغَات أَجْنَبِيَّة.</a:t>
            </a:r>
            <a:endParaRPr lang="it-IT" sz="32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l" defTabSz="914400" rtl="0" eaLnBrk="1" latinLnBrk="0" hangingPunct="1"/>
            <a:endParaRPr lang="it-IT" sz="32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 vie en Hollande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depuis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l’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â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18 ans.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J’ai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étudié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à l’université et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eu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liscence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ici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ar-SA" sz="32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32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l" defTabSz="914400" rtl="0" eaLnBrk="1" latinLnBrk="0" hangingPunct="1"/>
            <a:r>
              <a:rPr lang="ar-SA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بَعِيش فِي هُولَنْدَا مِنْ وأَنا عَنْدِي 18 سَنَة. دَرَسْت فِالْجَامْعَة وْتْخَرَّجْتِ مِنْهَا هِنَا.</a:t>
            </a:r>
            <a:endParaRPr lang="it-IT" sz="32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8969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592A8CB-0B0A-43A5-86F4-712B0C469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41850" y="444676"/>
            <a:ext cx="667802" cy="631474"/>
            <a:chOff x="10478914" y="1506691"/>
            <a:chExt cx="667802" cy="63147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C63B2AC-3D19-416D-A37F-2DDA8A365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A474391-1271-45F9-A39C-8641371AB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41AC6C06-99FE-4BA1-BC82-8406A424C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AEC842D-C905-4DEA-B1C3-CA51995C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21219" y="5433223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3B57D649-7200-B721-902E-50EBA303434C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l" defTabSz="914400" rtl="0" eaLnBrk="1" latinLnBrk="0" hangingPunct="1"/>
            <a:endParaRPr lang="it-IT" sz="32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l" defTabSz="914400" rtl="0" eaLnBrk="1" latinLnBrk="0" hangingPunct="1"/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J’enseigne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dans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 écoles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internationales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Mes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étudiants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sont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européens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américains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ar-SA" sz="32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l" defTabSz="914400" rtl="0" eaLnBrk="1" latinLnBrk="0" hangingPunct="1"/>
            <a:endParaRPr lang="it-IT" sz="32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r" defTabSz="914400" rtl="0" eaLnBrk="1" latinLnBrk="0" hangingPunct="1"/>
            <a:r>
              <a:rPr lang="ar-SA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أَنَا بَدَرِّس فِمَدَارِس دَوْلِيَّة. طُلَّابِي أَورُوبِيِّين أَوْ أَمْرِيكِيِّين.</a:t>
            </a:r>
            <a:endParaRPr lang="it-IT" sz="32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l" defTabSz="914400" rtl="0" eaLnBrk="1" latinLnBrk="0" hangingPunct="1"/>
            <a:endParaRPr lang="ar-SA" sz="32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l" defTabSz="914400" rtl="0" eaLnBrk="1" latinLnBrk="0" hangingPunct="1"/>
            <a:endParaRPr lang="it-IT" sz="32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l" defTabSz="914400" rtl="0" eaLnBrk="1" latinLnBrk="0" hangingPunct="1"/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J’aime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beacoup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ces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deux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mentalités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ar-SA" sz="32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l" defTabSz="914400" rtl="0" eaLnBrk="1" latinLnBrk="0" hangingPunct="1"/>
            <a:endParaRPr lang="ar-SA" sz="32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r" defTabSz="914400" rtl="0" eaLnBrk="1" latinLnBrk="0" hangingPunct="1"/>
            <a:r>
              <a:rPr lang="ar-SA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أَنَا بَحِبِّ أَوِي </a:t>
            </a:r>
            <a:r>
              <a:rPr lang="ar-SA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الْعَقْلِيِّتِن</a:t>
            </a:r>
            <a:r>
              <a:rPr lang="ar-SA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دُول.</a:t>
            </a:r>
          </a:p>
          <a:p>
            <a:pPr marL="0" algn="l" defTabSz="914400" rtl="0" eaLnBrk="1" latinLnBrk="0" hangingPunct="1"/>
            <a:endParaRPr lang="ar-SA" sz="32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l" defTabSz="914400" rtl="0" eaLnBrk="1" latinLnBrk="0" hangingPunct="1"/>
            <a:endParaRPr lang="ar-SA" sz="32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6937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592A8CB-0B0A-43A5-86F4-712B0C469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41850" y="444676"/>
            <a:ext cx="667802" cy="631474"/>
            <a:chOff x="10478914" y="1506691"/>
            <a:chExt cx="667802" cy="63147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C63B2AC-3D19-416D-A37F-2DDA8A365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A474391-1271-45F9-A39C-8641371AB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41AC6C06-99FE-4BA1-BC82-8406A424C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AEC842D-C905-4DEA-B1C3-CA51995C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21219" y="5433223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3B57D649-7200-B721-902E-50EBA303434C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l" defTabSz="914400" rtl="0" eaLnBrk="1" latinLnBrk="0" hangingPunct="1"/>
            <a:endParaRPr lang="it-IT" sz="32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l" defTabSz="914400" rtl="0" eaLnBrk="1" latinLnBrk="0" hangingPunct="1"/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C’est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étudiants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donnent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envie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travailler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ils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motivent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beaucoup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ar-SA" sz="32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r" defTabSz="914400" rtl="0" eaLnBrk="1" latinLnBrk="0" hangingPunct="1"/>
            <a:r>
              <a:rPr lang="ar-SA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اِلأَمْرِ بَسِيط، طُلَّابِي </a:t>
            </a:r>
            <a:r>
              <a:rPr lang="ar-SA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بِيدُّونِي</a:t>
            </a:r>
            <a:r>
              <a:rPr lang="ar-SA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رَغْبَة فِالشُّغْل، </a:t>
            </a:r>
            <a:r>
              <a:rPr lang="ar-SA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وبِيْحَفِّزُونِي</a:t>
            </a:r>
            <a:r>
              <a:rPr lang="ar-SA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كْثِير.</a:t>
            </a:r>
          </a:p>
          <a:p>
            <a:pPr marL="0" algn="l" defTabSz="914400" rtl="0" eaLnBrk="1" latinLnBrk="0" hangingPunct="1"/>
            <a:endParaRPr lang="ar-SA" sz="32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l" defTabSz="914400" rtl="0" eaLnBrk="1" latinLnBrk="0" hangingPunct="1"/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Ils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sont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sérieux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disciplinés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aussi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savent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ce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qu’ils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veulent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ar-SA" sz="32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r" defTabSz="914400" rtl="0" eaLnBrk="1" latinLnBrk="0" hangingPunct="1"/>
            <a:r>
              <a:rPr lang="ar-SA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هُمَّا جِدِّيِّين، ومِلْتَزِمِين وكَمَان عَارْفِين هُمَّا </a:t>
            </a:r>
            <a:r>
              <a:rPr lang="ar-SA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عَايْزِين</a:t>
            </a:r>
            <a:r>
              <a:rPr lang="ar-SA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إِيه. </a:t>
            </a:r>
          </a:p>
          <a:p>
            <a:pPr marL="0" algn="l" defTabSz="914400" rtl="0" eaLnBrk="1" latinLnBrk="0" hangingPunct="1"/>
            <a:endParaRPr lang="ar-SA" sz="32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l" defTabSz="914400" rtl="0" eaLnBrk="1" latinLnBrk="0" hangingPunct="1"/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perd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temps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nous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avons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objectifs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à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atteindre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ar-SA" sz="32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r" defTabSz="914400" rtl="0" eaLnBrk="1" latinLnBrk="0" hangingPunct="1"/>
            <a:r>
              <a:rPr lang="ar-SA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اِحْنَا مَا </a:t>
            </a:r>
            <a:r>
              <a:rPr lang="ar-SA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بِنْضَيَّعْشِ</a:t>
            </a:r>
            <a:r>
              <a:rPr lang="ar-SA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وَقْتِ، عَنْدِنَا أَهْدَاف </a:t>
            </a:r>
            <a:r>
              <a:rPr lang="ar-SA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بِنِسْعَى</a:t>
            </a:r>
            <a:r>
              <a:rPr lang="ar-SA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لِتَحْقِيقْهَا.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91122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592A8CB-0B0A-43A5-86F4-712B0C469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41850" y="444676"/>
            <a:ext cx="667802" cy="631474"/>
            <a:chOff x="10478914" y="1506691"/>
            <a:chExt cx="667802" cy="63147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C63B2AC-3D19-416D-A37F-2DDA8A365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A474391-1271-45F9-A39C-8641371AB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41AC6C06-99FE-4BA1-BC82-8406A424C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AEC842D-C905-4DEA-B1C3-CA51995C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21219" y="5433223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3B57D649-7200-B721-902E-50EBA303434C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l" defTabSz="914400" rtl="0" eaLnBrk="1" latinLnBrk="0" hangingPunct="1"/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étudiants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apprécient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moi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j’apprécie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leurs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comportements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algn="l" defTabSz="914400" rtl="0" eaLnBrk="1" latinLnBrk="0" hangingPunct="1"/>
            <a:endParaRPr lang="it-IT" sz="32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r" defTabSz="914400" rtl="0" eaLnBrk="1" latinLnBrk="0" hangingPunct="1"/>
            <a:r>
              <a:rPr lang="ar-SA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طُلَّابِي </a:t>
            </a:r>
            <a:r>
              <a:rPr lang="ar-SA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بِيْقَدَّرُوا</a:t>
            </a:r>
            <a:r>
              <a:rPr lang="ar-SA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طَرِيقْتِي فِالتَّدْرِيس وأَنا بَقَدَّر سُلُوكِيَّاتْهُم.</a:t>
            </a:r>
            <a:endParaRPr lang="it-IT" sz="32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r" defTabSz="914400" rtl="0" eaLnBrk="1" latinLnBrk="0" hangingPunct="1"/>
            <a:endParaRPr lang="ar-SA" sz="32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r" defTabSz="914400" rtl="0" eaLnBrk="1" latinLnBrk="0" hangingPunct="1"/>
            <a:endParaRPr lang="it-IT" sz="32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0" eaLnBrk="1" latinLnBrk="0" hangingPunct="1"/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suis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très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satifait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tout </a:t>
            </a:r>
            <a:r>
              <a:rPr lang="it-IT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ça</a:t>
            </a:r>
            <a:r>
              <a:rPr lang="it-IT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algn="r" defTabSz="914400" rtl="0" eaLnBrk="1" latinLnBrk="0" hangingPunct="1"/>
            <a:endParaRPr lang="it-IT" sz="32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r" defTabSz="914400" rtl="0" eaLnBrk="1" latinLnBrk="0" hangingPunct="1"/>
            <a:r>
              <a:rPr lang="ar-SA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أَنَا رَاضِ جِدًّا عَن كُلِّ </a:t>
            </a:r>
            <a:r>
              <a:rPr lang="ar-SA" sz="32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دَا</a:t>
            </a:r>
            <a:r>
              <a:rPr lang="ar-SA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it-IT" sz="32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5213730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AnalogousFromRegularSeed_2SEEDS">
      <a:dk1>
        <a:srgbClr val="000000"/>
      </a:dk1>
      <a:lt1>
        <a:srgbClr val="FFFFFF"/>
      </a:lt1>
      <a:dk2>
        <a:srgbClr val="23323E"/>
      </a:dk2>
      <a:lt2>
        <a:srgbClr val="E8E3E2"/>
      </a:lt2>
      <a:accent1>
        <a:srgbClr val="3B94B1"/>
      </a:accent1>
      <a:accent2>
        <a:srgbClr val="46B4A1"/>
      </a:accent2>
      <a:accent3>
        <a:srgbClr val="4D74C3"/>
      </a:accent3>
      <a:accent4>
        <a:srgbClr val="B13B58"/>
      </a:accent4>
      <a:accent5>
        <a:srgbClr val="C3604D"/>
      </a:accent5>
      <a:accent6>
        <a:srgbClr val="B1803B"/>
      </a:accent6>
      <a:hlink>
        <a:srgbClr val="BF5F3F"/>
      </a:hlink>
      <a:folHlink>
        <a:srgbClr val="7F7F7F"/>
      </a:folHlink>
    </a:clrScheme>
    <a:fontScheme name="Float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DFloatVTI" id="{F59BA300-ED19-4B39-9AE3-7882B1DE8B78}" vid="{0FEC63E3-719F-4F50-9F1E-5B8BAF3910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381</Words>
  <Application>Microsoft Macintosh PowerPoint</Application>
  <PresentationFormat>Widescreen</PresentationFormat>
  <Paragraphs>40</Paragraphs>
  <Slides>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2" baseType="lpstr">
      <vt:lpstr>Arial</vt:lpstr>
      <vt:lpstr>Avenir Next LT Pro</vt:lpstr>
      <vt:lpstr>Times New Roman</vt:lpstr>
      <vt:lpstr>Trattatello</vt:lpstr>
      <vt:lpstr>3DFloatVTI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Leila Alami</dc:creator>
  <cp:lastModifiedBy>Leila Alami</cp:lastModifiedBy>
  <cp:revision>18</cp:revision>
  <dcterms:created xsi:type="dcterms:W3CDTF">2023-04-14T12:41:26Z</dcterms:created>
  <dcterms:modified xsi:type="dcterms:W3CDTF">2023-05-16T14:35:34Z</dcterms:modified>
</cp:coreProperties>
</file>